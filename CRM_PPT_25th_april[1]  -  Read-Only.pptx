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16"/>
  </p:notesMasterIdLst>
  <p:sldIdLst>
    <p:sldId id="256" r:id="rId3"/>
    <p:sldId id="261" r:id="rId4"/>
    <p:sldId id="264" r:id="rId5"/>
    <p:sldId id="262" r:id="rId6"/>
    <p:sldId id="263" r:id="rId7"/>
    <p:sldId id="257" r:id="rId8"/>
    <p:sldId id="258" r:id="rId9"/>
    <p:sldId id="259" r:id="rId10"/>
    <p:sldId id="260" r:id="rId11"/>
    <p:sldId id="266" r:id="rId12"/>
    <p:sldId id="265" r:id="rId13"/>
    <p:sldId id="267" r:id="rId14"/>
    <p:sldId id="268" r:id="rId15"/>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87" d="100"/>
          <a:sy n="87" d="100"/>
        </p:scale>
        <p:origin x="1330" y="139"/>
      </p:cViewPr>
      <p:guideLst>
        <p:guide orient="horz" pos="213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F13F8C9-1E99-4EEF-A290-0DF6CB9E1700}" type="datetimeFigureOut">
              <a:rPr kumimoji="0" lang="en-IN"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Arial" panose="020B0604020202020204" pitchFamily="34" charset="0"/>
              </a:rPr>
              <a:t>25-04-2025</a:t>
            </a:fld>
            <a:endParaRPr kumimoji="0" lang="en-I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IN"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IN" sz="12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p>
            <a:pPr lvl="0" algn="r" eaLnBrk="1" hangingPunct="1"/>
            <a:fld id="{9A0DB2DC-4C9A-4742-B13C-FB6460FD3503}" type="slidenum">
              <a:rPr lang="en-IN" altLang="x-none" sz="1200" dirty="0"/>
              <a:t>‹#›</a:t>
            </a:fld>
            <a:endParaRPr lang="en-IN" altLang="x-none" sz="1200"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a:ln>
            <a:solidFill>
              <a:srgbClr val="000000"/>
            </a:solidFill>
            <a:miter/>
          </a:ln>
        </p:spPr>
      </p:sp>
      <p:sp>
        <p:nvSpPr>
          <p:cNvPr id="16387" name="Notes Placeholder 2"/>
          <p:cNvSpPr>
            <a:spLocks noGrp="1"/>
          </p:cNvSpPr>
          <p:nvPr>
            <p:ph type="body" idx="1"/>
          </p:nvPr>
        </p:nvSpPr>
        <p:spPr>
          <a:noFill/>
          <a:ln>
            <a:noFill/>
          </a:ln>
        </p:spPr>
        <p:txBody>
          <a:bodyPr wrap="square" lIns="91440" tIns="45720" rIns="91440" bIns="45720" anchor="t" anchorCtr="0"/>
          <a:lstStyle/>
          <a:p>
            <a:pPr lvl="0">
              <a:spcBef>
                <a:spcPct val="0"/>
              </a:spcBef>
            </a:pPr>
            <a:endParaRPr lang="en-IN" altLang="x-none" dirty="0"/>
          </a:p>
        </p:txBody>
      </p:sp>
      <p:sp>
        <p:nvSpPr>
          <p:cNvPr id="16388" name="Slide Number Placeholder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eaLnBrk="1" hangingPunct="1"/>
            <a:fld id="{9A0DB2DC-4C9A-4742-B13C-FB6460FD3503}" type="slidenum">
              <a:rPr lang="en-IN" altLang="x-none" sz="1200" dirty="0"/>
              <a:t>6</a:t>
            </a:fld>
            <a:endParaRPr lang="en-IN" altLang="x-none"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2.png"/><Relationship Id="rId5" Type="http://schemas.openxmlformats.org/officeDocument/2006/relationships/tags" Target="../tags/tag6.xml"/><Relationship Id="rId10" Type="http://schemas.openxmlformats.org/officeDocument/2006/relationships/slideMaster" Target="../slideMasters/slideMaster2.xml"/><Relationship Id="rId4" Type="http://schemas.openxmlformats.org/officeDocument/2006/relationships/tags" Target="../tags/tag5.xml"/><Relationship Id="rId9" Type="http://schemas.openxmlformats.org/officeDocument/2006/relationships/tags" Target="../tags/tag10.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3.png"/><Relationship Id="rId5" Type="http://schemas.openxmlformats.org/officeDocument/2006/relationships/tags" Target="../tags/tag15.xml"/><Relationship Id="rId10" Type="http://schemas.openxmlformats.org/officeDocument/2006/relationships/slideMaster" Target="../slideMasters/slideMaster2.xml"/><Relationship Id="rId4" Type="http://schemas.openxmlformats.org/officeDocument/2006/relationships/tags" Target="../tags/tag14.xml"/><Relationship Id="rId9" Type="http://schemas.openxmlformats.org/officeDocument/2006/relationships/tags" Target="../tags/tag19.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5" name="Footer Placeholder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Slide Number Placeholder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5" name="Footer Placeholder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Slide Number Placeholder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5" name="Footer Placeholder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Slide Number Placeholder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Footer Placeholder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7" name="Slide Number Placeholder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8" name="Footer Placeholder 7"/>
          <p:cNvSpPr>
            <a:spLocks noGrp="1"/>
          </p:cNvSpPr>
          <p:nvPr>
            <p:ph type="ftr" sz="quarter" idx="1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9" name="Slide Number Placeholder 8"/>
          <p:cNvSpPr>
            <a:spLocks noGrp="1"/>
          </p:cNvSpPr>
          <p:nvPr>
            <p:ph type="sldNum" sz="quarter" idx="1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4" name="Footer Placeholder 3"/>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5" name="Slide Number Placeholder 4"/>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3" name="Footer Placeholder 2"/>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4" name="Slide Number Placeholder 3"/>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Footer Placeholder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7" name="Slide Number Placeholder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IN"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Footer Placeholder 5"/>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7" name="Slide Number Placeholder 6"/>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5" name="Footer Placeholder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Slide Number Placeholder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bwMode="auto">
          <a:xfrm>
            <a:off x="457200" y="6245225"/>
            <a:ext cx="2133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5" name="Footer Placeholder 4"/>
          <p:cNvSpPr>
            <a:spLocks noGrp="1"/>
          </p:cNvSpPr>
          <p:nvPr>
            <p:ph type="ftr" sz="quarter" idx="3"/>
          </p:nvPr>
        </p:nvSpPr>
        <p:spPr bwMode="auto">
          <a:xfrm>
            <a:off x="3124200" y="6245225"/>
            <a:ext cx="2895600" cy="476250"/>
          </a:xfrm>
          <a:prstGeom prst="rect">
            <a:avLst/>
          </a:prstGeom>
          <a:noFill/>
        </p:spPr>
        <p:txBody>
          <a:bodyPr vert="horz" wrap="square" lIns="91440" tIns="45720" rIns="91440" bIns="45720" numCol="1" anchor="t" anchorCtr="0" compatLnSpc="1"/>
          <a:lstStyle>
            <a:lvl1pPr>
              <a:defRPr>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6" name="Slide Number Placeholder 5"/>
          <p:cNvSpPr>
            <a:spLocks noGrp="1"/>
          </p:cNvSpPr>
          <p:nvPr>
            <p:ph type="sldNum" sz="quarter" idx="4"/>
          </p:nvPr>
        </p:nvSpPr>
        <p:spPr bwMode="auto">
          <a:xfrm>
            <a:off x="6553200" y="6245225"/>
            <a:ext cx="2133600" cy="476250"/>
          </a:xfrm>
          <a:prstGeom prst="rect">
            <a:avLst/>
          </a:prstGeom>
          <a:noFill/>
        </p:spPr>
        <p:txBody>
          <a:bodyPr vert="horz" wrap="square" lIns="91440" tIns="45720" rIns="91440" bIns="45720" numCol="1" anchor="t" anchorCtr="0" compatLnSpc="1"/>
          <a:lstStyle>
            <a:lvl1pPr>
              <a:defRPr>
                <a:ea typeface="+mn-ea"/>
              </a:defRPr>
            </a:lvl1pPr>
          </a:lstStyle>
          <a:p>
            <a:pPr algn="r" eaLnBrk="1" hangingPunct="1"/>
            <a:fld id="{9A0DB2DC-4C9A-4742-B13C-FB6460FD3503}" type="slidenum">
              <a:rPr lang="zh-CN" altLang="en-US" dirty="0"/>
              <a:t>‹#›</a:t>
            </a:fld>
            <a:endParaRPr lang="zh-CN" altLang="en-US" dirty="0">
              <a:ea typeface="SimSun"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pic>
        <p:nvPicPr>
          <p:cNvPr id="2050" name="Picture 2" descr="关系图"/>
          <p:cNvPicPr>
            <a:picLocks noChangeAspect="1"/>
          </p:cNvPicPr>
          <p:nvPr/>
        </p:nvPicPr>
        <p:blipFill>
          <a:blip r:embed="rId2"/>
          <a:srcRect r="2528" b="10909"/>
          <a:stretch>
            <a:fillRect/>
          </a:stretch>
        </p:blipFill>
        <p:spPr>
          <a:xfrm>
            <a:off x="179388" y="692150"/>
            <a:ext cx="8913812" cy="6110288"/>
          </a:xfrm>
          <a:prstGeom prst="rect">
            <a:avLst/>
          </a:prstGeom>
          <a:noFill/>
          <a:ln w="9525">
            <a:noFill/>
          </a:ln>
        </p:spPr>
      </p:pic>
      <p:sp>
        <p:nvSpPr>
          <p:cNvPr id="10" name="Rectangle 7"/>
          <p:cNvSpPr>
            <a:spLocks noChangeArrowheads="1"/>
          </p:cNvSpPr>
          <p:nvPr/>
        </p:nvSpPr>
        <p:spPr bwMode="auto">
          <a:xfrm>
            <a:off x="1588" y="549275"/>
            <a:ext cx="9144000" cy="151130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2051" name="Rectangle 3"/>
          <p:cNvSpPr>
            <a:spLocks noGrp="1" noChangeArrowheads="1"/>
          </p:cNvSpPr>
          <p:nvPr>
            <p:ph type="subTitle" idx="1"/>
          </p:nvPr>
        </p:nvSpPr>
        <p:spPr>
          <a:xfrm>
            <a:off x="1908175" y="2492375"/>
            <a:ext cx="5545138" cy="1222375"/>
          </a:xfrm>
        </p:spPr>
        <p:txBody>
          <a:bodyPr anchor="ctr"/>
          <a:lstStyle>
            <a:lvl1pPr marL="0" indent="0" algn="ctr">
              <a:buFontTx/>
              <a:buNone/>
              <a:defRPr/>
            </a:lvl1pPr>
          </a:lstStyle>
          <a:p>
            <a:pPr lvl="0"/>
            <a:r>
              <a:rPr lang="en-US" altLang="zh-CN" noProof="0"/>
              <a:t>Click to edit Master subtitle style</a:t>
            </a:r>
          </a:p>
        </p:txBody>
      </p:sp>
      <p:sp>
        <p:nvSpPr>
          <p:cNvPr id="2056" name="Rectangle 8"/>
          <p:cNvSpPr>
            <a:spLocks noGrp="1" noChangeArrowheads="1"/>
          </p:cNvSpPr>
          <p:nvPr>
            <p:ph type="ctrTitle"/>
          </p:nvPr>
        </p:nvSpPr>
        <p:spPr>
          <a:xfrm>
            <a:off x="755650" y="620713"/>
            <a:ext cx="7772400" cy="1470025"/>
          </a:xfrm>
        </p:spPr>
        <p:txBody>
          <a:bodyPr/>
          <a:lstStyle>
            <a:lvl1pPr>
              <a:defRPr sz="3600"/>
            </a:lvl1pPr>
          </a:lstStyle>
          <a:p>
            <a:pPr lvl="0"/>
            <a:r>
              <a:rPr lang="en-US" altLang="zh-CN" noProof="0"/>
              <a:t>Click to edit Master title style</a:t>
            </a:r>
          </a:p>
        </p:txBody>
      </p:sp>
      <p:sp>
        <p:nvSpPr>
          <p:cNvPr id="11" name="Rectangle 4"/>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2" name="Rectangle 5"/>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3" name="Rectangle 6"/>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0EB2F9E-C9E0-4EA3-A9E2-0DF5F691060E}"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ppt_x</p:attrName>
                                        </p:attrNameLst>
                                      </p:cBhvr>
                                      <p:tavLst>
                                        <p:tav tm="0">
                                          <p:val>
                                            <p:strVal val="#ppt_x-.2"/>
                                          </p:val>
                                        </p:tav>
                                        <p:tav tm="100000">
                                          <p:val>
                                            <p:strVal val="#ppt_x"/>
                                          </p:val>
                                        </p:tav>
                                      </p:tavLst>
                                    </p:anim>
                                    <p:anim calcmode="lin" valueType="num">
                                      <p:cBhvr>
                                        <p:cTn id="8" dur="10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dirty="0"/>
          </a:p>
        </p:txBody>
      </p:sp>
      <p:pic>
        <p:nvPicPr>
          <p:cNvPr id="22" name="图片 21"/>
          <p:cNvPicPr>
            <a:picLocks noChangeAspect="1"/>
          </p:cNvPicPr>
          <p:nvPr userDrawn="1">
            <p:custDataLst>
              <p:tags r:id="rId1"/>
            </p:custDataLst>
          </p:nvPr>
        </p:nvPicPr>
        <p:blipFill>
          <a:blip r:embed="rId11">
            <a:extLst>
              <a:ext uri="{28A0092B-C50C-407E-A947-70E740481C1C}">
                <a14:useLocalDpi xmlns:a14="http://schemas.microsoft.com/office/drawing/2010/main" val="0"/>
              </a:ext>
            </a:extLst>
          </a:blip>
          <a:stretch>
            <a:fillRect/>
          </a:stretch>
        </p:blipFill>
        <p:spPr>
          <a:xfrm>
            <a:off x="7144" y="0"/>
            <a:ext cx="9129713" cy="6858000"/>
          </a:xfrm>
          <a:prstGeom prst="rect">
            <a:avLst/>
          </a:prstGeom>
        </p:spPr>
      </p:pic>
      <p:sp>
        <p:nvSpPr>
          <p:cNvPr id="13" name="任意多边形: 形状 12"/>
          <p:cNvSpPr/>
          <p:nvPr userDrawn="1">
            <p:custDataLst>
              <p:tags r:id="rId2"/>
            </p:custDataLst>
          </p:nvPr>
        </p:nvSpPr>
        <p:spPr>
          <a:xfrm>
            <a:off x="464344" y="57799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en-US" sz="1350"/>
          </a:p>
        </p:txBody>
      </p:sp>
      <p:sp>
        <p:nvSpPr>
          <p:cNvPr id="14" name="任意多边形: 形状 13"/>
          <p:cNvSpPr/>
          <p:nvPr userDrawn="1">
            <p:custDataLst>
              <p:tags r:id="rId3"/>
            </p:custDataLst>
          </p:nvPr>
        </p:nvSpPr>
        <p:spPr>
          <a:xfrm>
            <a:off x="485595" y="599189"/>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sz="1350"/>
          </a:p>
        </p:txBody>
      </p:sp>
      <p:sp>
        <p:nvSpPr>
          <p:cNvPr id="15" name="任意多边形: 形状 14"/>
          <p:cNvSpPr/>
          <p:nvPr userDrawn="1">
            <p:custDataLst>
              <p:tags r:id="rId4"/>
            </p:custDataLst>
          </p:nvPr>
        </p:nvSpPr>
        <p:spPr>
          <a:xfrm>
            <a:off x="485595" y="65633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sz="1350"/>
          </a:p>
        </p:txBody>
      </p:sp>
      <p:sp>
        <p:nvSpPr>
          <p:cNvPr id="16" name="任意多边形: 形状 15"/>
          <p:cNvSpPr/>
          <p:nvPr userDrawn="1">
            <p:custDataLst>
              <p:tags r:id="rId5"/>
            </p:custDataLst>
          </p:nvPr>
        </p:nvSpPr>
        <p:spPr>
          <a:xfrm>
            <a:off x="485595" y="71348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sz="1350"/>
          </a:p>
        </p:txBody>
      </p:sp>
      <p:sp>
        <p:nvSpPr>
          <p:cNvPr id="17" name="任意多边形: 形状 16"/>
          <p:cNvSpPr/>
          <p:nvPr userDrawn="1">
            <p:custDataLst>
              <p:tags r:id="rId6"/>
            </p:custDataLst>
          </p:nvPr>
        </p:nvSpPr>
        <p:spPr>
          <a:xfrm rot="16200000">
            <a:off x="8532495" y="577850"/>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en-US" sz="1350"/>
          </a:p>
        </p:txBody>
      </p:sp>
      <p:sp>
        <p:nvSpPr>
          <p:cNvPr id="18" name="任意多边形: 形状 17"/>
          <p:cNvSpPr/>
          <p:nvPr userDrawn="1">
            <p:custDataLst>
              <p:tags r:id="rId7"/>
            </p:custDataLst>
          </p:nvPr>
        </p:nvSpPr>
        <p:spPr>
          <a:xfrm rot="16200000">
            <a:off x="8589645" y="608807"/>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en-US" sz="1350"/>
          </a:p>
        </p:txBody>
      </p:sp>
      <p:sp>
        <p:nvSpPr>
          <p:cNvPr id="19" name="任意多边形: 形状 18"/>
          <p:cNvSpPr/>
          <p:nvPr userDrawn="1">
            <p:custDataLst>
              <p:tags r:id="rId8"/>
            </p:custDataLst>
          </p:nvPr>
        </p:nvSpPr>
        <p:spPr>
          <a:xfrm rot="5400000">
            <a:off x="8361045" y="577850"/>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en-US" sz="1350"/>
          </a:p>
        </p:txBody>
      </p:sp>
      <p:sp>
        <p:nvSpPr>
          <p:cNvPr id="20" name="任意多边形: 形状 19"/>
          <p:cNvSpPr/>
          <p:nvPr userDrawn="1">
            <p:custDataLst>
              <p:tags r:id="rId9"/>
            </p:custDataLst>
          </p:nvPr>
        </p:nvSpPr>
        <p:spPr>
          <a:xfrm rot="5400000">
            <a:off x="8418195" y="618331"/>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en-US" sz="1350"/>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Date Area</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t>‹#›</a:t>
            </a:fld>
            <a:endParaRPr lang="en-US" dirty="0"/>
          </a:p>
        </p:txBody>
      </p:sp>
      <p:pic>
        <p:nvPicPr>
          <p:cNvPr id="7" name="图片 2"/>
          <p:cNvPicPr>
            <a:picLocks noChangeAspect="1"/>
          </p:cNvPicPr>
          <p:nvPr userDrawn="1">
            <p:custDataLst>
              <p:tags r:id="rId1"/>
            </p:custDataLst>
          </p:nvPr>
        </p:nvPicPr>
        <p:blipFill>
          <a:blip r:embed="rId11">
            <a:extLst>
              <a:ext uri="{28A0092B-C50C-407E-A947-70E740481C1C}">
                <a14:useLocalDpi xmlns:a14="http://schemas.microsoft.com/office/drawing/2010/main" val="0"/>
              </a:ext>
            </a:extLst>
          </a:blip>
          <a:stretch>
            <a:fillRect/>
          </a:stretch>
        </p:blipFill>
        <p:spPr>
          <a:xfrm>
            <a:off x="476" y="0"/>
            <a:ext cx="9143048" cy="6858000"/>
          </a:xfrm>
          <a:prstGeom prst="rect">
            <a:avLst/>
          </a:prstGeom>
        </p:spPr>
      </p:pic>
      <p:sp>
        <p:nvSpPr>
          <p:cNvPr id="12" name="任意多边形: 形状 11"/>
          <p:cNvSpPr/>
          <p:nvPr userDrawn="1">
            <p:custDataLst>
              <p:tags r:id="rId2"/>
            </p:custDataLst>
          </p:nvPr>
        </p:nvSpPr>
        <p:spPr>
          <a:xfrm>
            <a:off x="464344" y="577997"/>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en-US" sz="1350"/>
          </a:p>
        </p:txBody>
      </p:sp>
      <p:sp>
        <p:nvSpPr>
          <p:cNvPr id="13" name="任意多边形: 形状 12"/>
          <p:cNvSpPr/>
          <p:nvPr userDrawn="1">
            <p:custDataLst>
              <p:tags r:id="rId3"/>
            </p:custDataLst>
          </p:nvPr>
        </p:nvSpPr>
        <p:spPr>
          <a:xfrm>
            <a:off x="485595" y="599189"/>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2"/>
                  <a:pt x="167737" y="17097"/>
                  <a:pt x="167217" y="17445"/>
                </a:cubicBezTo>
                <a:cubicBezTo>
                  <a:pt x="166697" y="17792"/>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2"/>
                  <a:pt x="156633" y="17445"/>
                </a:cubicBezTo>
                <a:cubicBezTo>
                  <a:pt x="156114" y="17097"/>
                  <a:pt x="155633" y="16702"/>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2"/>
                  <a:pt x="153657" y="4753"/>
                  <a:pt x="154005" y="4233"/>
                </a:cubicBezTo>
                <a:cubicBezTo>
                  <a:pt x="154353" y="3713"/>
                  <a:pt x="154748" y="3232"/>
                  <a:pt x="155190" y="2790"/>
                </a:cubicBezTo>
                <a:cubicBezTo>
                  <a:pt x="155633" y="2348"/>
                  <a:pt x="156113" y="1953"/>
                  <a:pt x="156633" y="1605"/>
                </a:cubicBezTo>
                <a:cubicBezTo>
                  <a:pt x="157153" y="1258"/>
                  <a:pt x="157702" y="964"/>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4"/>
                  <a:pt x="166697" y="1258"/>
                  <a:pt x="167217" y="1605"/>
                </a:cubicBezTo>
                <a:cubicBezTo>
                  <a:pt x="167737" y="1953"/>
                  <a:pt x="168218" y="2348"/>
                  <a:pt x="168660" y="2790"/>
                </a:cubicBezTo>
                <a:cubicBezTo>
                  <a:pt x="169103" y="3232"/>
                  <a:pt x="169498" y="3713"/>
                  <a:pt x="169845" y="4233"/>
                </a:cubicBezTo>
                <a:cubicBezTo>
                  <a:pt x="170192" y="4753"/>
                  <a:pt x="170486" y="5302"/>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sz="1350"/>
          </a:p>
        </p:txBody>
      </p:sp>
      <p:sp>
        <p:nvSpPr>
          <p:cNvPr id="14" name="任意多边形: 形状 13"/>
          <p:cNvSpPr/>
          <p:nvPr userDrawn="1">
            <p:custDataLst>
              <p:tags r:id="rId4"/>
            </p:custDataLst>
          </p:nvPr>
        </p:nvSpPr>
        <p:spPr>
          <a:xfrm>
            <a:off x="485595" y="65633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sz="1350"/>
          </a:p>
        </p:txBody>
      </p:sp>
      <p:sp>
        <p:nvSpPr>
          <p:cNvPr id="15" name="任意多边形: 形状 14"/>
          <p:cNvSpPr/>
          <p:nvPr userDrawn="1">
            <p:custDataLst>
              <p:tags r:id="rId5"/>
            </p:custDataLst>
          </p:nvPr>
        </p:nvSpPr>
        <p:spPr>
          <a:xfrm>
            <a:off x="485595" y="713488"/>
            <a:ext cx="128588" cy="14288"/>
          </a:xfrm>
          <a:custGeom>
            <a:avLst/>
            <a:gdLst>
              <a:gd name="connsiteX0" fmla="*/ 161925 w 171450"/>
              <a:gd name="connsiteY0" fmla="*/ 19050 h 19050"/>
              <a:gd name="connsiteX1" fmla="*/ 9525 w 171450"/>
              <a:gd name="connsiteY1" fmla="*/ 19050 h 19050"/>
              <a:gd name="connsiteX2" fmla="*/ 7667 w 171450"/>
              <a:gd name="connsiteY2" fmla="*/ 18867 h 19050"/>
              <a:gd name="connsiteX3" fmla="*/ 5880 w 171450"/>
              <a:gd name="connsiteY3" fmla="*/ 18325 h 19050"/>
              <a:gd name="connsiteX4" fmla="*/ 4233 w 171450"/>
              <a:gd name="connsiteY4" fmla="*/ 17445 h 19050"/>
              <a:gd name="connsiteX5" fmla="*/ 2790 w 171450"/>
              <a:gd name="connsiteY5" fmla="*/ 16260 h 19050"/>
              <a:gd name="connsiteX6" fmla="*/ 1605 w 171450"/>
              <a:gd name="connsiteY6" fmla="*/ 14817 h 19050"/>
              <a:gd name="connsiteX7" fmla="*/ 725 w 171450"/>
              <a:gd name="connsiteY7" fmla="*/ 13170 h 19050"/>
              <a:gd name="connsiteX8" fmla="*/ 183 w 171450"/>
              <a:gd name="connsiteY8" fmla="*/ 11383 h 19050"/>
              <a:gd name="connsiteX9" fmla="*/ 0 w 171450"/>
              <a:gd name="connsiteY9" fmla="*/ 9525 h 19050"/>
              <a:gd name="connsiteX10" fmla="*/ 183 w 171450"/>
              <a:gd name="connsiteY10" fmla="*/ 7667 h 19050"/>
              <a:gd name="connsiteX11" fmla="*/ 725 w 171450"/>
              <a:gd name="connsiteY11" fmla="*/ 5880 h 19050"/>
              <a:gd name="connsiteX12" fmla="*/ 1605 w 171450"/>
              <a:gd name="connsiteY12" fmla="*/ 4233 h 19050"/>
              <a:gd name="connsiteX13" fmla="*/ 2790 w 171450"/>
              <a:gd name="connsiteY13" fmla="*/ 2790 h 19050"/>
              <a:gd name="connsiteX14" fmla="*/ 4233 w 171450"/>
              <a:gd name="connsiteY14" fmla="*/ 1605 h 19050"/>
              <a:gd name="connsiteX15" fmla="*/ 5880 w 171450"/>
              <a:gd name="connsiteY15" fmla="*/ 725 h 19050"/>
              <a:gd name="connsiteX16" fmla="*/ 7667 w 171450"/>
              <a:gd name="connsiteY16" fmla="*/ 183 h 19050"/>
              <a:gd name="connsiteX17" fmla="*/ 9525 w 171450"/>
              <a:gd name="connsiteY17" fmla="*/ 0 h 19050"/>
              <a:gd name="connsiteX18" fmla="*/ 161925 w 171450"/>
              <a:gd name="connsiteY18" fmla="*/ 0 h 19050"/>
              <a:gd name="connsiteX19" fmla="*/ 163784 w 171450"/>
              <a:gd name="connsiteY19" fmla="*/ 183 h 19050"/>
              <a:gd name="connsiteX20" fmla="*/ 165570 w 171450"/>
              <a:gd name="connsiteY20" fmla="*/ 725 h 19050"/>
              <a:gd name="connsiteX21" fmla="*/ 167217 w 171450"/>
              <a:gd name="connsiteY21" fmla="*/ 1605 h 19050"/>
              <a:gd name="connsiteX22" fmla="*/ 168660 w 171450"/>
              <a:gd name="connsiteY22" fmla="*/ 2790 h 19050"/>
              <a:gd name="connsiteX23" fmla="*/ 169845 w 171450"/>
              <a:gd name="connsiteY23" fmla="*/ 4233 h 19050"/>
              <a:gd name="connsiteX24" fmla="*/ 170725 w 171450"/>
              <a:gd name="connsiteY24" fmla="*/ 5880 h 19050"/>
              <a:gd name="connsiteX25" fmla="*/ 171267 w 171450"/>
              <a:gd name="connsiteY25" fmla="*/ 7667 h 19050"/>
              <a:gd name="connsiteX26" fmla="*/ 171450 w 171450"/>
              <a:gd name="connsiteY26" fmla="*/ 9525 h 19050"/>
              <a:gd name="connsiteX27" fmla="*/ 171267 w 171450"/>
              <a:gd name="connsiteY27" fmla="*/ 11383 h 19050"/>
              <a:gd name="connsiteX28" fmla="*/ 170725 w 171450"/>
              <a:gd name="connsiteY28" fmla="*/ 13170 h 19050"/>
              <a:gd name="connsiteX29" fmla="*/ 169845 w 171450"/>
              <a:gd name="connsiteY29" fmla="*/ 14817 h 19050"/>
              <a:gd name="connsiteX30" fmla="*/ 168660 w 171450"/>
              <a:gd name="connsiteY30" fmla="*/ 16260 h 19050"/>
              <a:gd name="connsiteX31" fmla="*/ 167217 w 171450"/>
              <a:gd name="connsiteY31" fmla="*/ 17445 h 19050"/>
              <a:gd name="connsiteX32" fmla="*/ 165570 w 171450"/>
              <a:gd name="connsiteY32" fmla="*/ 18325 h 19050"/>
              <a:gd name="connsiteX33" fmla="*/ 163784 w 171450"/>
              <a:gd name="connsiteY33" fmla="*/ 18867 h 19050"/>
              <a:gd name="connsiteX34" fmla="*/ 161925 w 171450"/>
              <a:gd name="connsiteY34" fmla="*/ 19050 h 19050"/>
              <a:gd name="connsiteX35" fmla="*/ 171450 w 171450"/>
              <a:gd name="connsiteY35" fmla="*/ 9525 h 19050"/>
              <a:gd name="connsiteX36" fmla="*/ 171267 w 171450"/>
              <a:gd name="connsiteY36" fmla="*/ 11383 h 19050"/>
              <a:gd name="connsiteX37" fmla="*/ 170725 w 171450"/>
              <a:gd name="connsiteY37" fmla="*/ 13170 h 19050"/>
              <a:gd name="connsiteX38" fmla="*/ 169845 w 171450"/>
              <a:gd name="connsiteY38" fmla="*/ 14817 h 19050"/>
              <a:gd name="connsiteX39" fmla="*/ 168660 w 171450"/>
              <a:gd name="connsiteY39" fmla="*/ 16260 h 19050"/>
              <a:gd name="connsiteX40" fmla="*/ 167217 w 171450"/>
              <a:gd name="connsiteY40" fmla="*/ 17445 h 19050"/>
              <a:gd name="connsiteX41" fmla="*/ 165570 w 171450"/>
              <a:gd name="connsiteY41" fmla="*/ 18325 h 19050"/>
              <a:gd name="connsiteX42" fmla="*/ 163784 w 171450"/>
              <a:gd name="connsiteY42" fmla="*/ 18867 h 19050"/>
              <a:gd name="connsiteX43" fmla="*/ 161925 w 171450"/>
              <a:gd name="connsiteY43" fmla="*/ 19050 h 19050"/>
              <a:gd name="connsiteX44" fmla="*/ 160067 w 171450"/>
              <a:gd name="connsiteY44" fmla="*/ 18867 h 19050"/>
              <a:gd name="connsiteX45" fmla="*/ 158280 w 171450"/>
              <a:gd name="connsiteY45" fmla="*/ 18325 h 19050"/>
              <a:gd name="connsiteX46" fmla="*/ 156633 w 171450"/>
              <a:gd name="connsiteY46" fmla="*/ 17445 h 19050"/>
              <a:gd name="connsiteX47" fmla="*/ 155190 w 171450"/>
              <a:gd name="connsiteY47" fmla="*/ 16260 h 19050"/>
              <a:gd name="connsiteX48" fmla="*/ 154005 w 171450"/>
              <a:gd name="connsiteY48" fmla="*/ 14817 h 19050"/>
              <a:gd name="connsiteX49" fmla="*/ 153125 w 171450"/>
              <a:gd name="connsiteY49" fmla="*/ 13170 h 19050"/>
              <a:gd name="connsiteX50" fmla="*/ 152583 w 171450"/>
              <a:gd name="connsiteY50" fmla="*/ 11383 h 19050"/>
              <a:gd name="connsiteX51" fmla="*/ 152400 w 171450"/>
              <a:gd name="connsiteY51" fmla="*/ 9525 h 19050"/>
              <a:gd name="connsiteX52" fmla="*/ 152583 w 171450"/>
              <a:gd name="connsiteY52" fmla="*/ 7667 h 19050"/>
              <a:gd name="connsiteX53" fmla="*/ 153125 w 171450"/>
              <a:gd name="connsiteY53" fmla="*/ 5880 h 19050"/>
              <a:gd name="connsiteX54" fmla="*/ 154005 w 171450"/>
              <a:gd name="connsiteY54" fmla="*/ 4233 h 19050"/>
              <a:gd name="connsiteX55" fmla="*/ 155190 w 171450"/>
              <a:gd name="connsiteY55" fmla="*/ 2790 h 19050"/>
              <a:gd name="connsiteX56" fmla="*/ 156633 w 171450"/>
              <a:gd name="connsiteY56" fmla="*/ 1605 h 19050"/>
              <a:gd name="connsiteX57" fmla="*/ 158280 w 171450"/>
              <a:gd name="connsiteY57" fmla="*/ 725 h 19050"/>
              <a:gd name="connsiteX58" fmla="*/ 160067 w 171450"/>
              <a:gd name="connsiteY58" fmla="*/ 183 h 19050"/>
              <a:gd name="connsiteX59" fmla="*/ 161925 w 171450"/>
              <a:gd name="connsiteY59" fmla="*/ 0 h 19050"/>
              <a:gd name="connsiteX60" fmla="*/ 163784 w 171450"/>
              <a:gd name="connsiteY60" fmla="*/ 183 h 19050"/>
              <a:gd name="connsiteX61" fmla="*/ 165570 w 171450"/>
              <a:gd name="connsiteY61" fmla="*/ 725 h 19050"/>
              <a:gd name="connsiteX62" fmla="*/ 167217 w 171450"/>
              <a:gd name="connsiteY62" fmla="*/ 1605 h 19050"/>
              <a:gd name="connsiteX63" fmla="*/ 168660 w 171450"/>
              <a:gd name="connsiteY63" fmla="*/ 2790 h 19050"/>
              <a:gd name="connsiteX64" fmla="*/ 169845 w 171450"/>
              <a:gd name="connsiteY64" fmla="*/ 4233 h 19050"/>
              <a:gd name="connsiteX65" fmla="*/ 170725 w 171450"/>
              <a:gd name="connsiteY65" fmla="*/ 5880 h 19050"/>
              <a:gd name="connsiteX66" fmla="*/ 171267 w 171450"/>
              <a:gd name="connsiteY66" fmla="*/ 7667 h 19050"/>
              <a:gd name="connsiteX67" fmla="*/ 171450 w 171450"/>
              <a:gd name="connsiteY67" fmla="*/ 9525 h 19050"/>
              <a:gd name="connsiteX68" fmla="*/ 19050 w 171450"/>
              <a:gd name="connsiteY68" fmla="*/ 9525 h 19050"/>
              <a:gd name="connsiteX69" fmla="*/ 18867 w 171450"/>
              <a:gd name="connsiteY69" fmla="*/ 11383 h 19050"/>
              <a:gd name="connsiteX70" fmla="*/ 18325 w 171450"/>
              <a:gd name="connsiteY70" fmla="*/ 13170 h 19050"/>
              <a:gd name="connsiteX71" fmla="*/ 17445 w 171450"/>
              <a:gd name="connsiteY71" fmla="*/ 14817 h 19050"/>
              <a:gd name="connsiteX72" fmla="*/ 16260 w 171450"/>
              <a:gd name="connsiteY72" fmla="*/ 16260 h 19050"/>
              <a:gd name="connsiteX73" fmla="*/ 14817 w 171450"/>
              <a:gd name="connsiteY73" fmla="*/ 17445 h 19050"/>
              <a:gd name="connsiteX74" fmla="*/ 13170 w 171450"/>
              <a:gd name="connsiteY74" fmla="*/ 18325 h 19050"/>
              <a:gd name="connsiteX75" fmla="*/ 11383 w 171450"/>
              <a:gd name="connsiteY75" fmla="*/ 18867 h 19050"/>
              <a:gd name="connsiteX76" fmla="*/ 9525 w 171450"/>
              <a:gd name="connsiteY76" fmla="*/ 19050 h 19050"/>
              <a:gd name="connsiteX77" fmla="*/ 7667 w 171450"/>
              <a:gd name="connsiteY77" fmla="*/ 18867 h 19050"/>
              <a:gd name="connsiteX78" fmla="*/ 5880 w 171450"/>
              <a:gd name="connsiteY78" fmla="*/ 18325 h 19050"/>
              <a:gd name="connsiteX79" fmla="*/ 4233 w 171450"/>
              <a:gd name="connsiteY79" fmla="*/ 17445 h 19050"/>
              <a:gd name="connsiteX80" fmla="*/ 2790 w 171450"/>
              <a:gd name="connsiteY80" fmla="*/ 16260 h 19050"/>
              <a:gd name="connsiteX81" fmla="*/ 1605 w 171450"/>
              <a:gd name="connsiteY81" fmla="*/ 14817 h 19050"/>
              <a:gd name="connsiteX82" fmla="*/ 725 w 171450"/>
              <a:gd name="connsiteY82" fmla="*/ 13170 h 19050"/>
              <a:gd name="connsiteX83" fmla="*/ 183 w 171450"/>
              <a:gd name="connsiteY83" fmla="*/ 11383 h 19050"/>
              <a:gd name="connsiteX84" fmla="*/ 0 w 171450"/>
              <a:gd name="connsiteY84" fmla="*/ 9525 h 19050"/>
              <a:gd name="connsiteX85" fmla="*/ 183 w 171450"/>
              <a:gd name="connsiteY85" fmla="*/ 7667 h 19050"/>
              <a:gd name="connsiteX86" fmla="*/ 725 w 171450"/>
              <a:gd name="connsiteY86" fmla="*/ 5880 h 19050"/>
              <a:gd name="connsiteX87" fmla="*/ 1605 w 171450"/>
              <a:gd name="connsiteY87" fmla="*/ 4233 h 19050"/>
              <a:gd name="connsiteX88" fmla="*/ 2790 w 171450"/>
              <a:gd name="connsiteY88" fmla="*/ 2790 h 19050"/>
              <a:gd name="connsiteX89" fmla="*/ 4233 w 171450"/>
              <a:gd name="connsiteY89" fmla="*/ 1605 h 19050"/>
              <a:gd name="connsiteX90" fmla="*/ 5880 w 171450"/>
              <a:gd name="connsiteY90" fmla="*/ 725 h 19050"/>
              <a:gd name="connsiteX91" fmla="*/ 7667 w 171450"/>
              <a:gd name="connsiteY91" fmla="*/ 183 h 19050"/>
              <a:gd name="connsiteX92" fmla="*/ 9525 w 171450"/>
              <a:gd name="connsiteY92" fmla="*/ 0 h 19050"/>
              <a:gd name="connsiteX93" fmla="*/ 11383 w 171450"/>
              <a:gd name="connsiteY93" fmla="*/ 183 h 19050"/>
              <a:gd name="connsiteX94" fmla="*/ 13170 w 171450"/>
              <a:gd name="connsiteY94" fmla="*/ 725 h 19050"/>
              <a:gd name="connsiteX95" fmla="*/ 14817 w 171450"/>
              <a:gd name="connsiteY95" fmla="*/ 1605 h 19050"/>
              <a:gd name="connsiteX96" fmla="*/ 16260 w 171450"/>
              <a:gd name="connsiteY96" fmla="*/ 2790 h 19050"/>
              <a:gd name="connsiteX97" fmla="*/ 17445 w 171450"/>
              <a:gd name="connsiteY97" fmla="*/ 4233 h 19050"/>
              <a:gd name="connsiteX98" fmla="*/ 18325 w 171450"/>
              <a:gd name="connsiteY98" fmla="*/ 5880 h 19050"/>
              <a:gd name="connsiteX99" fmla="*/ 18867 w 171450"/>
              <a:gd name="connsiteY99" fmla="*/ 7667 h 19050"/>
              <a:gd name="connsiteX100" fmla="*/ 19050 w 171450"/>
              <a:gd name="connsiteY100" fmla="*/ 9525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71450" h="19050">
                <a:moveTo>
                  <a:pt x="161925" y="19050"/>
                </a:moveTo>
                <a:lnTo>
                  <a:pt x="9525" y="19050"/>
                </a:ln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lnTo>
                  <a:pt x="161925" y="0"/>
                </a:ln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lose/>
                <a:moveTo>
                  <a:pt x="171450" y="9525"/>
                </a:moveTo>
                <a:cubicBezTo>
                  <a:pt x="171450" y="10151"/>
                  <a:pt x="171389" y="10770"/>
                  <a:pt x="171267" y="11383"/>
                </a:cubicBezTo>
                <a:cubicBezTo>
                  <a:pt x="171145" y="11997"/>
                  <a:pt x="170964" y="12592"/>
                  <a:pt x="170725" y="13170"/>
                </a:cubicBezTo>
                <a:cubicBezTo>
                  <a:pt x="170486" y="13748"/>
                  <a:pt x="170193" y="14297"/>
                  <a:pt x="169845" y="14817"/>
                </a:cubicBezTo>
                <a:cubicBezTo>
                  <a:pt x="169498" y="15337"/>
                  <a:pt x="169103" y="15818"/>
                  <a:pt x="168660" y="16260"/>
                </a:cubicBezTo>
                <a:cubicBezTo>
                  <a:pt x="168218" y="16703"/>
                  <a:pt x="167737" y="17097"/>
                  <a:pt x="167217" y="17445"/>
                </a:cubicBezTo>
                <a:cubicBezTo>
                  <a:pt x="166697" y="17793"/>
                  <a:pt x="166149" y="18086"/>
                  <a:pt x="165570" y="18325"/>
                </a:cubicBezTo>
                <a:cubicBezTo>
                  <a:pt x="164992" y="18564"/>
                  <a:pt x="164397" y="18745"/>
                  <a:pt x="163784" y="18867"/>
                </a:cubicBezTo>
                <a:cubicBezTo>
                  <a:pt x="163170" y="18989"/>
                  <a:pt x="162551" y="19050"/>
                  <a:pt x="161925" y="19050"/>
                </a:cubicBezTo>
                <a:cubicBezTo>
                  <a:pt x="161299" y="19050"/>
                  <a:pt x="160680" y="18989"/>
                  <a:pt x="160067" y="18867"/>
                </a:cubicBezTo>
                <a:cubicBezTo>
                  <a:pt x="159453" y="18745"/>
                  <a:pt x="158858" y="18564"/>
                  <a:pt x="158280" y="18325"/>
                </a:cubicBezTo>
                <a:cubicBezTo>
                  <a:pt x="157702" y="18086"/>
                  <a:pt x="157153" y="17793"/>
                  <a:pt x="156633" y="17445"/>
                </a:cubicBezTo>
                <a:cubicBezTo>
                  <a:pt x="156114" y="17097"/>
                  <a:pt x="155633" y="16703"/>
                  <a:pt x="155190" y="16260"/>
                </a:cubicBezTo>
                <a:cubicBezTo>
                  <a:pt x="154748" y="15818"/>
                  <a:pt x="154353" y="15337"/>
                  <a:pt x="154005" y="14817"/>
                </a:cubicBezTo>
                <a:cubicBezTo>
                  <a:pt x="153657" y="14297"/>
                  <a:pt x="153364" y="13748"/>
                  <a:pt x="153125" y="13170"/>
                </a:cubicBezTo>
                <a:cubicBezTo>
                  <a:pt x="152886" y="12592"/>
                  <a:pt x="152705" y="11997"/>
                  <a:pt x="152583" y="11383"/>
                </a:cubicBezTo>
                <a:cubicBezTo>
                  <a:pt x="152461" y="10770"/>
                  <a:pt x="152400" y="10151"/>
                  <a:pt x="152400" y="9525"/>
                </a:cubicBezTo>
                <a:cubicBezTo>
                  <a:pt x="152400" y="8900"/>
                  <a:pt x="152461" y="8280"/>
                  <a:pt x="152583" y="7667"/>
                </a:cubicBezTo>
                <a:cubicBezTo>
                  <a:pt x="152705" y="7053"/>
                  <a:pt x="152886" y="6458"/>
                  <a:pt x="153125" y="5880"/>
                </a:cubicBezTo>
                <a:cubicBezTo>
                  <a:pt x="153364" y="5303"/>
                  <a:pt x="153657" y="4753"/>
                  <a:pt x="154005" y="4233"/>
                </a:cubicBezTo>
                <a:cubicBezTo>
                  <a:pt x="154353" y="3713"/>
                  <a:pt x="154748" y="3232"/>
                  <a:pt x="155190" y="2790"/>
                </a:cubicBezTo>
                <a:cubicBezTo>
                  <a:pt x="155633" y="2348"/>
                  <a:pt x="156113" y="1953"/>
                  <a:pt x="156633" y="1605"/>
                </a:cubicBezTo>
                <a:cubicBezTo>
                  <a:pt x="157153" y="1258"/>
                  <a:pt x="157702" y="965"/>
                  <a:pt x="158280" y="725"/>
                </a:cubicBezTo>
                <a:cubicBezTo>
                  <a:pt x="158858" y="486"/>
                  <a:pt x="159453" y="305"/>
                  <a:pt x="160067" y="183"/>
                </a:cubicBezTo>
                <a:cubicBezTo>
                  <a:pt x="160680" y="61"/>
                  <a:pt x="161299" y="0"/>
                  <a:pt x="161925" y="0"/>
                </a:cubicBezTo>
                <a:cubicBezTo>
                  <a:pt x="162551" y="0"/>
                  <a:pt x="163170" y="61"/>
                  <a:pt x="163784" y="183"/>
                </a:cubicBezTo>
                <a:cubicBezTo>
                  <a:pt x="164397" y="305"/>
                  <a:pt x="164992" y="486"/>
                  <a:pt x="165570" y="725"/>
                </a:cubicBezTo>
                <a:cubicBezTo>
                  <a:pt x="166149" y="965"/>
                  <a:pt x="166697" y="1258"/>
                  <a:pt x="167217" y="1605"/>
                </a:cubicBezTo>
                <a:cubicBezTo>
                  <a:pt x="167737" y="1953"/>
                  <a:pt x="168218" y="2348"/>
                  <a:pt x="168660" y="2790"/>
                </a:cubicBezTo>
                <a:cubicBezTo>
                  <a:pt x="169103" y="3232"/>
                  <a:pt x="169498" y="3713"/>
                  <a:pt x="169845" y="4233"/>
                </a:cubicBezTo>
                <a:cubicBezTo>
                  <a:pt x="170192" y="4753"/>
                  <a:pt x="170486" y="5303"/>
                  <a:pt x="170725" y="5880"/>
                </a:cubicBezTo>
                <a:cubicBezTo>
                  <a:pt x="170964" y="6458"/>
                  <a:pt x="171145" y="7053"/>
                  <a:pt x="171267" y="7667"/>
                </a:cubicBezTo>
                <a:cubicBezTo>
                  <a:pt x="171389" y="8280"/>
                  <a:pt x="171450" y="8900"/>
                  <a:pt x="171450" y="9525"/>
                </a:cubicBezTo>
                <a:close/>
                <a:moveTo>
                  <a:pt x="19050" y="9525"/>
                </a:moveTo>
                <a:cubicBezTo>
                  <a:pt x="19050" y="10151"/>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3"/>
                  <a:pt x="15337" y="17097"/>
                  <a:pt x="14817" y="17445"/>
                </a:cubicBezTo>
                <a:cubicBezTo>
                  <a:pt x="14297" y="17793"/>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3"/>
                  <a:pt x="4233" y="17445"/>
                </a:cubicBezTo>
                <a:cubicBezTo>
                  <a:pt x="3713" y="17097"/>
                  <a:pt x="3232" y="16703"/>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1"/>
                  <a:pt x="0" y="9525"/>
                </a:cubicBezTo>
                <a:cubicBezTo>
                  <a:pt x="0" y="8900"/>
                  <a:pt x="61" y="8280"/>
                  <a:pt x="183" y="7667"/>
                </a:cubicBezTo>
                <a:cubicBezTo>
                  <a:pt x="305" y="7053"/>
                  <a:pt x="486" y="6458"/>
                  <a:pt x="725" y="5880"/>
                </a:cubicBezTo>
                <a:cubicBezTo>
                  <a:pt x="964" y="5303"/>
                  <a:pt x="1258" y="4753"/>
                  <a:pt x="1605" y="4233"/>
                </a:cubicBezTo>
                <a:cubicBezTo>
                  <a:pt x="1953" y="3713"/>
                  <a:pt x="2348" y="3232"/>
                  <a:pt x="2790" y="2790"/>
                </a:cubicBezTo>
                <a:cubicBezTo>
                  <a:pt x="3232" y="2348"/>
                  <a:pt x="3713" y="1953"/>
                  <a:pt x="4233" y="1605"/>
                </a:cubicBezTo>
                <a:cubicBezTo>
                  <a:pt x="4753" y="1258"/>
                  <a:pt x="5302" y="965"/>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5"/>
                  <a:pt x="14297" y="1258"/>
                  <a:pt x="14817" y="1605"/>
                </a:cubicBezTo>
                <a:cubicBezTo>
                  <a:pt x="15337" y="1953"/>
                  <a:pt x="15818" y="2348"/>
                  <a:pt x="16260" y="2790"/>
                </a:cubicBezTo>
                <a:cubicBezTo>
                  <a:pt x="16702" y="3232"/>
                  <a:pt x="17097" y="3713"/>
                  <a:pt x="17445" y="4233"/>
                </a:cubicBezTo>
                <a:cubicBezTo>
                  <a:pt x="17792" y="4753"/>
                  <a:pt x="18086" y="5303"/>
                  <a:pt x="18325" y="5880"/>
                </a:cubicBezTo>
                <a:cubicBezTo>
                  <a:pt x="18564" y="6458"/>
                  <a:pt x="18745" y="7053"/>
                  <a:pt x="18867" y="7667"/>
                </a:cubicBezTo>
                <a:cubicBezTo>
                  <a:pt x="18989" y="8280"/>
                  <a:pt x="19050" y="8900"/>
                  <a:pt x="19050" y="9525"/>
                </a:cubicBezTo>
                <a:close/>
              </a:path>
            </a:pathLst>
          </a:custGeom>
          <a:solidFill>
            <a:schemeClr val="accent1"/>
          </a:solidFill>
          <a:ln w="9525" cap="flat">
            <a:noFill/>
            <a:prstDash val="solid"/>
            <a:miter/>
          </a:ln>
        </p:spPr>
        <p:txBody>
          <a:bodyPr rtlCol="0" anchor="ctr"/>
          <a:lstStyle/>
          <a:p>
            <a:endParaRPr lang="en-US" sz="1350"/>
          </a:p>
        </p:txBody>
      </p:sp>
      <p:sp>
        <p:nvSpPr>
          <p:cNvPr id="16" name="任意多边形: 形状 15"/>
          <p:cNvSpPr/>
          <p:nvPr userDrawn="1">
            <p:custDataLst>
              <p:tags r:id="rId6"/>
            </p:custDataLst>
          </p:nvPr>
        </p:nvSpPr>
        <p:spPr>
          <a:xfrm rot="16200000">
            <a:off x="8532495" y="577850"/>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en-US" sz="1350"/>
          </a:p>
        </p:txBody>
      </p:sp>
      <p:sp>
        <p:nvSpPr>
          <p:cNvPr id="17" name="任意多边形: 形状 16"/>
          <p:cNvSpPr/>
          <p:nvPr userDrawn="1">
            <p:custDataLst>
              <p:tags r:id="rId7"/>
            </p:custDataLst>
          </p:nvPr>
        </p:nvSpPr>
        <p:spPr>
          <a:xfrm rot="16200000">
            <a:off x="8589645" y="608807"/>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en-US" sz="1350"/>
          </a:p>
        </p:txBody>
      </p:sp>
      <p:sp>
        <p:nvSpPr>
          <p:cNvPr id="20" name="任意多边形: 形状 19"/>
          <p:cNvSpPr/>
          <p:nvPr userDrawn="1">
            <p:custDataLst>
              <p:tags r:id="rId8"/>
            </p:custDataLst>
          </p:nvPr>
        </p:nvSpPr>
        <p:spPr>
          <a:xfrm rot="5400000">
            <a:off x="8361045" y="577850"/>
            <a:ext cx="171450" cy="171450"/>
          </a:xfrm>
          <a:custGeom>
            <a:avLst/>
            <a:gdLst>
              <a:gd name="connsiteX0" fmla="*/ 0 w 228600"/>
              <a:gd name="connsiteY0" fmla="*/ 0 h 228600"/>
              <a:gd name="connsiteX1" fmla="*/ 228600 w 228600"/>
              <a:gd name="connsiteY1" fmla="*/ 0 h 228600"/>
              <a:gd name="connsiteX2" fmla="*/ 228600 w 228600"/>
              <a:gd name="connsiteY2" fmla="*/ 228600 h 228600"/>
              <a:gd name="connsiteX3" fmla="*/ 0 w 228600"/>
              <a:gd name="connsiteY3" fmla="*/ 228600 h 228600"/>
            </a:gdLst>
            <a:ahLst/>
            <a:cxnLst>
              <a:cxn ang="0">
                <a:pos x="connsiteX0" y="connsiteY0"/>
              </a:cxn>
              <a:cxn ang="0">
                <a:pos x="connsiteX1" y="connsiteY1"/>
              </a:cxn>
              <a:cxn ang="0">
                <a:pos x="connsiteX2" y="connsiteY2"/>
              </a:cxn>
              <a:cxn ang="0">
                <a:pos x="connsiteX3" y="connsiteY3"/>
              </a:cxn>
            </a:cxnLst>
            <a:rect l="l" t="t" r="r" b="b"/>
            <a:pathLst>
              <a:path w="228600" h="228600">
                <a:moveTo>
                  <a:pt x="0" y="0"/>
                </a:moveTo>
                <a:lnTo>
                  <a:pt x="228600" y="0"/>
                </a:lnTo>
                <a:lnTo>
                  <a:pt x="228600" y="228600"/>
                </a:lnTo>
                <a:lnTo>
                  <a:pt x="0" y="228600"/>
                </a:lnTo>
                <a:close/>
              </a:path>
            </a:pathLst>
          </a:custGeom>
          <a:solidFill>
            <a:schemeClr val="accent1">
              <a:alpha val="1000"/>
            </a:schemeClr>
          </a:solidFill>
          <a:ln w="9525" cap="flat">
            <a:noFill/>
            <a:prstDash val="solid"/>
            <a:miter/>
          </a:ln>
        </p:spPr>
        <p:txBody>
          <a:bodyPr rtlCol="0" anchor="ctr"/>
          <a:lstStyle/>
          <a:p>
            <a:endParaRPr lang="en-US" sz="1350"/>
          </a:p>
        </p:txBody>
      </p:sp>
      <p:sp>
        <p:nvSpPr>
          <p:cNvPr id="22" name="任意多边形: 形状 21"/>
          <p:cNvSpPr/>
          <p:nvPr userDrawn="1">
            <p:custDataLst>
              <p:tags r:id="rId9"/>
            </p:custDataLst>
          </p:nvPr>
        </p:nvSpPr>
        <p:spPr>
          <a:xfrm rot="5400000">
            <a:off x="8418195" y="618331"/>
            <a:ext cx="100013" cy="57150"/>
          </a:xfrm>
          <a:custGeom>
            <a:avLst/>
            <a:gdLst>
              <a:gd name="connsiteX0" fmla="*/ 16260 w 133350"/>
              <a:gd name="connsiteY0" fmla="*/ 2790 h 76200"/>
              <a:gd name="connsiteX1" fmla="*/ 73410 w 133350"/>
              <a:gd name="connsiteY1" fmla="*/ 59940 h 76200"/>
              <a:gd name="connsiteX2" fmla="*/ 66675 w 133350"/>
              <a:gd name="connsiteY2" fmla="*/ 66675 h 76200"/>
              <a:gd name="connsiteX3" fmla="*/ 59940 w 133350"/>
              <a:gd name="connsiteY3" fmla="*/ 59940 h 76200"/>
              <a:gd name="connsiteX4" fmla="*/ 117090 w 133350"/>
              <a:gd name="connsiteY4" fmla="*/ 2790 h 76200"/>
              <a:gd name="connsiteX5" fmla="*/ 118533 w 133350"/>
              <a:gd name="connsiteY5" fmla="*/ 1605 h 76200"/>
              <a:gd name="connsiteX6" fmla="*/ 120180 w 133350"/>
              <a:gd name="connsiteY6" fmla="*/ 725 h 76200"/>
              <a:gd name="connsiteX7" fmla="*/ 121967 w 133350"/>
              <a:gd name="connsiteY7" fmla="*/ 183 h 76200"/>
              <a:gd name="connsiteX8" fmla="*/ 123825 w 133350"/>
              <a:gd name="connsiteY8" fmla="*/ 0 h 76200"/>
              <a:gd name="connsiteX9" fmla="*/ 125683 w 133350"/>
              <a:gd name="connsiteY9" fmla="*/ 183 h 76200"/>
              <a:gd name="connsiteX10" fmla="*/ 127470 w 133350"/>
              <a:gd name="connsiteY10" fmla="*/ 725 h 76200"/>
              <a:gd name="connsiteX11" fmla="*/ 129117 w 133350"/>
              <a:gd name="connsiteY11" fmla="*/ 1605 h 76200"/>
              <a:gd name="connsiteX12" fmla="*/ 130560 w 133350"/>
              <a:gd name="connsiteY12" fmla="*/ 2790 h 76200"/>
              <a:gd name="connsiteX13" fmla="*/ 131745 w 133350"/>
              <a:gd name="connsiteY13" fmla="*/ 4233 h 76200"/>
              <a:gd name="connsiteX14" fmla="*/ 132625 w 133350"/>
              <a:gd name="connsiteY14" fmla="*/ 5880 h 76200"/>
              <a:gd name="connsiteX15" fmla="*/ 133167 w 133350"/>
              <a:gd name="connsiteY15" fmla="*/ 7667 h 76200"/>
              <a:gd name="connsiteX16" fmla="*/ 133350 w 133350"/>
              <a:gd name="connsiteY16" fmla="*/ 9525 h 76200"/>
              <a:gd name="connsiteX17" fmla="*/ 133167 w 133350"/>
              <a:gd name="connsiteY17" fmla="*/ 11383 h 76200"/>
              <a:gd name="connsiteX18" fmla="*/ 132625 w 133350"/>
              <a:gd name="connsiteY18" fmla="*/ 13170 h 76200"/>
              <a:gd name="connsiteX19" fmla="*/ 131745 w 133350"/>
              <a:gd name="connsiteY19" fmla="*/ 14817 h 76200"/>
              <a:gd name="connsiteX20" fmla="*/ 130560 w 133350"/>
              <a:gd name="connsiteY20" fmla="*/ 16260 h 76200"/>
              <a:gd name="connsiteX21" fmla="*/ 73410 w 133350"/>
              <a:gd name="connsiteY21" fmla="*/ 73410 h 76200"/>
              <a:gd name="connsiteX22" fmla="*/ 71967 w 133350"/>
              <a:gd name="connsiteY22" fmla="*/ 74595 h 76200"/>
              <a:gd name="connsiteX23" fmla="*/ 70320 w 133350"/>
              <a:gd name="connsiteY23" fmla="*/ 75475 h 76200"/>
              <a:gd name="connsiteX24" fmla="*/ 68533 w 133350"/>
              <a:gd name="connsiteY24" fmla="*/ 76017 h 76200"/>
              <a:gd name="connsiteX25" fmla="*/ 66675 w 133350"/>
              <a:gd name="connsiteY25" fmla="*/ 76200 h 76200"/>
              <a:gd name="connsiteX26" fmla="*/ 64817 w 133350"/>
              <a:gd name="connsiteY26" fmla="*/ 76017 h 76200"/>
              <a:gd name="connsiteX27" fmla="*/ 63030 w 133350"/>
              <a:gd name="connsiteY27" fmla="*/ 75475 h 76200"/>
              <a:gd name="connsiteX28" fmla="*/ 61383 w 133350"/>
              <a:gd name="connsiteY28" fmla="*/ 74595 h 76200"/>
              <a:gd name="connsiteX29" fmla="*/ 59940 w 133350"/>
              <a:gd name="connsiteY29" fmla="*/ 73410 h 76200"/>
              <a:gd name="connsiteX30" fmla="*/ 2790 w 133350"/>
              <a:gd name="connsiteY30" fmla="*/ 16260 h 76200"/>
              <a:gd name="connsiteX31" fmla="*/ 1605 w 133350"/>
              <a:gd name="connsiteY31" fmla="*/ 14817 h 76200"/>
              <a:gd name="connsiteX32" fmla="*/ 725 w 133350"/>
              <a:gd name="connsiteY32" fmla="*/ 13170 h 76200"/>
              <a:gd name="connsiteX33" fmla="*/ 183 w 133350"/>
              <a:gd name="connsiteY33" fmla="*/ 11383 h 76200"/>
              <a:gd name="connsiteX34" fmla="*/ 0 w 133350"/>
              <a:gd name="connsiteY34" fmla="*/ 9525 h 76200"/>
              <a:gd name="connsiteX35" fmla="*/ 183 w 133350"/>
              <a:gd name="connsiteY35" fmla="*/ 7667 h 76200"/>
              <a:gd name="connsiteX36" fmla="*/ 725 w 133350"/>
              <a:gd name="connsiteY36" fmla="*/ 5880 h 76200"/>
              <a:gd name="connsiteX37" fmla="*/ 1605 w 133350"/>
              <a:gd name="connsiteY37" fmla="*/ 4233 h 76200"/>
              <a:gd name="connsiteX38" fmla="*/ 2790 w 133350"/>
              <a:gd name="connsiteY38" fmla="*/ 2790 h 76200"/>
              <a:gd name="connsiteX39" fmla="*/ 4233 w 133350"/>
              <a:gd name="connsiteY39" fmla="*/ 1605 h 76200"/>
              <a:gd name="connsiteX40" fmla="*/ 5880 w 133350"/>
              <a:gd name="connsiteY40" fmla="*/ 725 h 76200"/>
              <a:gd name="connsiteX41" fmla="*/ 7667 w 133350"/>
              <a:gd name="connsiteY41" fmla="*/ 183 h 76200"/>
              <a:gd name="connsiteX42" fmla="*/ 9525 w 133350"/>
              <a:gd name="connsiteY42" fmla="*/ 0 h 76200"/>
              <a:gd name="connsiteX43" fmla="*/ 11383 w 133350"/>
              <a:gd name="connsiteY43" fmla="*/ 183 h 76200"/>
              <a:gd name="connsiteX44" fmla="*/ 13170 w 133350"/>
              <a:gd name="connsiteY44" fmla="*/ 725 h 76200"/>
              <a:gd name="connsiteX45" fmla="*/ 14817 w 133350"/>
              <a:gd name="connsiteY45" fmla="*/ 1605 h 76200"/>
              <a:gd name="connsiteX46" fmla="*/ 16260 w 133350"/>
              <a:gd name="connsiteY46" fmla="*/ 2790 h 76200"/>
              <a:gd name="connsiteX47" fmla="*/ 19050 w 133350"/>
              <a:gd name="connsiteY47" fmla="*/ 9525 h 76200"/>
              <a:gd name="connsiteX48" fmla="*/ 18867 w 133350"/>
              <a:gd name="connsiteY48" fmla="*/ 11383 h 76200"/>
              <a:gd name="connsiteX49" fmla="*/ 18325 w 133350"/>
              <a:gd name="connsiteY49" fmla="*/ 13170 h 76200"/>
              <a:gd name="connsiteX50" fmla="*/ 17445 w 133350"/>
              <a:gd name="connsiteY50" fmla="*/ 14817 h 76200"/>
              <a:gd name="connsiteX51" fmla="*/ 16260 w 133350"/>
              <a:gd name="connsiteY51" fmla="*/ 16260 h 76200"/>
              <a:gd name="connsiteX52" fmla="*/ 14817 w 133350"/>
              <a:gd name="connsiteY52" fmla="*/ 17445 h 76200"/>
              <a:gd name="connsiteX53" fmla="*/ 13170 w 133350"/>
              <a:gd name="connsiteY53" fmla="*/ 18325 h 76200"/>
              <a:gd name="connsiteX54" fmla="*/ 11383 w 133350"/>
              <a:gd name="connsiteY54" fmla="*/ 18867 h 76200"/>
              <a:gd name="connsiteX55" fmla="*/ 9525 w 133350"/>
              <a:gd name="connsiteY55" fmla="*/ 19050 h 76200"/>
              <a:gd name="connsiteX56" fmla="*/ 7667 w 133350"/>
              <a:gd name="connsiteY56" fmla="*/ 18867 h 76200"/>
              <a:gd name="connsiteX57" fmla="*/ 5880 w 133350"/>
              <a:gd name="connsiteY57" fmla="*/ 18325 h 76200"/>
              <a:gd name="connsiteX58" fmla="*/ 4233 w 133350"/>
              <a:gd name="connsiteY58" fmla="*/ 17445 h 76200"/>
              <a:gd name="connsiteX59" fmla="*/ 2790 w 133350"/>
              <a:gd name="connsiteY59" fmla="*/ 16260 h 76200"/>
              <a:gd name="connsiteX60" fmla="*/ 1605 w 133350"/>
              <a:gd name="connsiteY60" fmla="*/ 14817 h 76200"/>
              <a:gd name="connsiteX61" fmla="*/ 725 w 133350"/>
              <a:gd name="connsiteY61" fmla="*/ 13170 h 76200"/>
              <a:gd name="connsiteX62" fmla="*/ 183 w 133350"/>
              <a:gd name="connsiteY62" fmla="*/ 11383 h 76200"/>
              <a:gd name="connsiteX63" fmla="*/ 0 w 133350"/>
              <a:gd name="connsiteY63" fmla="*/ 9525 h 76200"/>
              <a:gd name="connsiteX64" fmla="*/ 183 w 133350"/>
              <a:gd name="connsiteY64" fmla="*/ 7667 h 76200"/>
              <a:gd name="connsiteX65" fmla="*/ 725 w 133350"/>
              <a:gd name="connsiteY65" fmla="*/ 5880 h 76200"/>
              <a:gd name="connsiteX66" fmla="*/ 1605 w 133350"/>
              <a:gd name="connsiteY66" fmla="*/ 4233 h 76200"/>
              <a:gd name="connsiteX67" fmla="*/ 2790 w 133350"/>
              <a:gd name="connsiteY67" fmla="*/ 2790 h 76200"/>
              <a:gd name="connsiteX68" fmla="*/ 4233 w 133350"/>
              <a:gd name="connsiteY68" fmla="*/ 1605 h 76200"/>
              <a:gd name="connsiteX69" fmla="*/ 5880 w 133350"/>
              <a:gd name="connsiteY69" fmla="*/ 725 h 76200"/>
              <a:gd name="connsiteX70" fmla="*/ 7667 w 133350"/>
              <a:gd name="connsiteY70" fmla="*/ 183 h 76200"/>
              <a:gd name="connsiteX71" fmla="*/ 9525 w 133350"/>
              <a:gd name="connsiteY71" fmla="*/ 0 h 76200"/>
              <a:gd name="connsiteX72" fmla="*/ 11383 w 133350"/>
              <a:gd name="connsiteY72" fmla="*/ 183 h 76200"/>
              <a:gd name="connsiteX73" fmla="*/ 13170 w 133350"/>
              <a:gd name="connsiteY73" fmla="*/ 725 h 76200"/>
              <a:gd name="connsiteX74" fmla="*/ 14817 w 133350"/>
              <a:gd name="connsiteY74" fmla="*/ 1605 h 76200"/>
              <a:gd name="connsiteX75" fmla="*/ 16260 w 133350"/>
              <a:gd name="connsiteY75" fmla="*/ 2790 h 76200"/>
              <a:gd name="connsiteX76" fmla="*/ 17445 w 133350"/>
              <a:gd name="connsiteY76" fmla="*/ 4233 h 76200"/>
              <a:gd name="connsiteX77" fmla="*/ 18325 w 133350"/>
              <a:gd name="connsiteY77" fmla="*/ 5880 h 76200"/>
              <a:gd name="connsiteX78" fmla="*/ 18867 w 133350"/>
              <a:gd name="connsiteY78" fmla="*/ 7667 h 76200"/>
              <a:gd name="connsiteX79" fmla="*/ 19050 w 133350"/>
              <a:gd name="connsiteY79" fmla="*/ 9525 h 76200"/>
              <a:gd name="connsiteX80" fmla="*/ 133350 w 133350"/>
              <a:gd name="connsiteY80" fmla="*/ 9525 h 76200"/>
              <a:gd name="connsiteX81" fmla="*/ 133167 w 133350"/>
              <a:gd name="connsiteY81" fmla="*/ 11383 h 76200"/>
              <a:gd name="connsiteX82" fmla="*/ 132625 w 133350"/>
              <a:gd name="connsiteY82" fmla="*/ 13170 h 76200"/>
              <a:gd name="connsiteX83" fmla="*/ 131745 w 133350"/>
              <a:gd name="connsiteY83" fmla="*/ 14817 h 76200"/>
              <a:gd name="connsiteX84" fmla="*/ 130560 w 133350"/>
              <a:gd name="connsiteY84" fmla="*/ 16260 h 76200"/>
              <a:gd name="connsiteX85" fmla="*/ 129117 w 133350"/>
              <a:gd name="connsiteY85" fmla="*/ 17445 h 76200"/>
              <a:gd name="connsiteX86" fmla="*/ 127470 w 133350"/>
              <a:gd name="connsiteY86" fmla="*/ 18325 h 76200"/>
              <a:gd name="connsiteX87" fmla="*/ 125683 w 133350"/>
              <a:gd name="connsiteY87" fmla="*/ 18867 h 76200"/>
              <a:gd name="connsiteX88" fmla="*/ 123825 w 133350"/>
              <a:gd name="connsiteY88" fmla="*/ 19050 h 76200"/>
              <a:gd name="connsiteX89" fmla="*/ 121967 w 133350"/>
              <a:gd name="connsiteY89" fmla="*/ 18867 h 76200"/>
              <a:gd name="connsiteX90" fmla="*/ 120180 w 133350"/>
              <a:gd name="connsiteY90" fmla="*/ 18325 h 76200"/>
              <a:gd name="connsiteX91" fmla="*/ 118533 w 133350"/>
              <a:gd name="connsiteY91" fmla="*/ 17445 h 76200"/>
              <a:gd name="connsiteX92" fmla="*/ 117090 w 133350"/>
              <a:gd name="connsiteY92" fmla="*/ 16260 h 76200"/>
              <a:gd name="connsiteX93" fmla="*/ 115905 w 133350"/>
              <a:gd name="connsiteY93" fmla="*/ 14817 h 76200"/>
              <a:gd name="connsiteX94" fmla="*/ 115025 w 133350"/>
              <a:gd name="connsiteY94" fmla="*/ 13170 h 76200"/>
              <a:gd name="connsiteX95" fmla="*/ 114483 w 133350"/>
              <a:gd name="connsiteY95" fmla="*/ 11383 h 76200"/>
              <a:gd name="connsiteX96" fmla="*/ 114300 w 133350"/>
              <a:gd name="connsiteY96" fmla="*/ 9525 h 76200"/>
              <a:gd name="connsiteX97" fmla="*/ 114483 w 133350"/>
              <a:gd name="connsiteY97" fmla="*/ 7667 h 76200"/>
              <a:gd name="connsiteX98" fmla="*/ 115025 w 133350"/>
              <a:gd name="connsiteY98" fmla="*/ 5880 h 76200"/>
              <a:gd name="connsiteX99" fmla="*/ 115905 w 133350"/>
              <a:gd name="connsiteY99" fmla="*/ 4233 h 76200"/>
              <a:gd name="connsiteX100" fmla="*/ 117090 w 133350"/>
              <a:gd name="connsiteY100" fmla="*/ 2790 h 76200"/>
              <a:gd name="connsiteX101" fmla="*/ 118533 w 133350"/>
              <a:gd name="connsiteY101" fmla="*/ 1605 h 76200"/>
              <a:gd name="connsiteX102" fmla="*/ 120180 w 133350"/>
              <a:gd name="connsiteY102" fmla="*/ 725 h 76200"/>
              <a:gd name="connsiteX103" fmla="*/ 121967 w 133350"/>
              <a:gd name="connsiteY103" fmla="*/ 183 h 76200"/>
              <a:gd name="connsiteX104" fmla="*/ 123825 w 133350"/>
              <a:gd name="connsiteY104" fmla="*/ 0 h 76200"/>
              <a:gd name="connsiteX105" fmla="*/ 125683 w 133350"/>
              <a:gd name="connsiteY105" fmla="*/ 183 h 76200"/>
              <a:gd name="connsiteX106" fmla="*/ 127470 w 133350"/>
              <a:gd name="connsiteY106" fmla="*/ 725 h 76200"/>
              <a:gd name="connsiteX107" fmla="*/ 129117 w 133350"/>
              <a:gd name="connsiteY107" fmla="*/ 1605 h 76200"/>
              <a:gd name="connsiteX108" fmla="*/ 130560 w 133350"/>
              <a:gd name="connsiteY108" fmla="*/ 2790 h 76200"/>
              <a:gd name="connsiteX109" fmla="*/ 131745 w 133350"/>
              <a:gd name="connsiteY109" fmla="*/ 4233 h 76200"/>
              <a:gd name="connsiteX110" fmla="*/ 132625 w 133350"/>
              <a:gd name="connsiteY110" fmla="*/ 5880 h 76200"/>
              <a:gd name="connsiteX111" fmla="*/ 133167 w 133350"/>
              <a:gd name="connsiteY111" fmla="*/ 7667 h 76200"/>
              <a:gd name="connsiteX112" fmla="*/ 133350 w 133350"/>
              <a:gd name="connsiteY112" fmla="*/ 9525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133350" h="76200">
                <a:moveTo>
                  <a:pt x="16260" y="2790"/>
                </a:moveTo>
                <a:lnTo>
                  <a:pt x="73410" y="59940"/>
                </a:lnTo>
                <a:lnTo>
                  <a:pt x="66675" y="66675"/>
                </a:lnTo>
                <a:lnTo>
                  <a:pt x="59940" y="59940"/>
                </a:lnTo>
                <a:lnTo>
                  <a:pt x="117090" y="2790"/>
                </a:ln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lnTo>
                  <a:pt x="73410" y="73410"/>
                </a:lnTo>
                <a:cubicBezTo>
                  <a:pt x="72968" y="73852"/>
                  <a:pt x="72487" y="74247"/>
                  <a:pt x="71967" y="74595"/>
                </a:cubicBezTo>
                <a:cubicBezTo>
                  <a:pt x="71447" y="74942"/>
                  <a:pt x="70897" y="75236"/>
                  <a:pt x="70320" y="75475"/>
                </a:cubicBezTo>
                <a:cubicBezTo>
                  <a:pt x="69742" y="75714"/>
                  <a:pt x="69147" y="75895"/>
                  <a:pt x="68533" y="76017"/>
                </a:cubicBezTo>
                <a:cubicBezTo>
                  <a:pt x="67920" y="76139"/>
                  <a:pt x="67301" y="76200"/>
                  <a:pt x="66675" y="76200"/>
                </a:cubicBezTo>
                <a:cubicBezTo>
                  <a:pt x="66049" y="76200"/>
                  <a:pt x="65430" y="76139"/>
                  <a:pt x="64817" y="76017"/>
                </a:cubicBezTo>
                <a:cubicBezTo>
                  <a:pt x="64203" y="75895"/>
                  <a:pt x="63608" y="75714"/>
                  <a:pt x="63030" y="75475"/>
                </a:cubicBezTo>
                <a:cubicBezTo>
                  <a:pt x="62453" y="75236"/>
                  <a:pt x="61903" y="74943"/>
                  <a:pt x="61383" y="74595"/>
                </a:cubicBezTo>
                <a:cubicBezTo>
                  <a:pt x="60863" y="74247"/>
                  <a:pt x="60382" y="73852"/>
                  <a:pt x="59940" y="73410"/>
                </a:cubicBezTo>
                <a:lnTo>
                  <a:pt x="2790" y="16260"/>
                </a:ln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lose/>
                <a:moveTo>
                  <a:pt x="19050" y="9525"/>
                </a:moveTo>
                <a:cubicBezTo>
                  <a:pt x="19050" y="10150"/>
                  <a:pt x="18989" y="10770"/>
                  <a:pt x="18867" y="11383"/>
                </a:cubicBezTo>
                <a:cubicBezTo>
                  <a:pt x="18745" y="11997"/>
                  <a:pt x="18564" y="12592"/>
                  <a:pt x="18325" y="13170"/>
                </a:cubicBezTo>
                <a:cubicBezTo>
                  <a:pt x="18086" y="13748"/>
                  <a:pt x="17792" y="14297"/>
                  <a:pt x="17445" y="14817"/>
                </a:cubicBezTo>
                <a:cubicBezTo>
                  <a:pt x="17097" y="15337"/>
                  <a:pt x="16702" y="15818"/>
                  <a:pt x="16260" y="16260"/>
                </a:cubicBezTo>
                <a:cubicBezTo>
                  <a:pt x="15818" y="16702"/>
                  <a:pt x="15337" y="17097"/>
                  <a:pt x="14817" y="17445"/>
                </a:cubicBezTo>
                <a:cubicBezTo>
                  <a:pt x="14297" y="17792"/>
                  <a:pt x="13748" y="18086"/>
                  <a:pt x="13170" y="18325"/>
                </a:cubicBezTo>
                <a:cubicBezTo>
                  <a:pt x="12592" y="18564"/>
                  <a:pt x="11997" y="18745"/>
                  <a:pt x="11383" y="18867"/>
                </a:cubicBezTo>
                <a:cubicBezTo>
                  <a:pt x="10770" y="18989"/>
                  <a:pt x="10150" y="19050"/>
                  <a:pt x="9525" y="19050"/>
                </a:cubicBezTo>
                <a:cubicBezTo>
                  <a:pt x="8900" y="19050"/>
                  <a:pt x="8280" y="18989"/>
                  <a:pt x="7667" y="18867"/>
                </a:cubicBezTo>
                <a:cubicBezTo>
                  <a:pt x="7053" y="18745"/>
                  <a:pt x="6458" y="18564"/>
                  <a:pt x="5880" y="18325"/>
                </a:cubicBezTo>
                <a:cubicBezTo>
                  <a:pt x="5302" y="18086"/>
                  <a:pt x="4753" y="17792"/>
                  <a:pt x="4233" y="17445"/>
                </a:cubicBezTo>
                <a:cubicBezTo>
                  <a:pt x="3713" y="17097"/>
                  <a:pt x="3232" y="16702"/>
                  <a:pt x="2790" y="16260"/>
                </a:cubicBezTo>
                <a:cubicBezTo>
                  <a:pt x="2348" y="15818"/>
                  <a:pt x="1953" y="15337"/>
                  <a:pt x="1605" y="14817"/>
                </a:cubicBezTo>
                <a:cubicBezTo>
                  <a:pt x="1258" y="14297"/>
                  <a:pt x="964" y="13748"/>
                  <a:pt x="725" y="13170"/>
                </a:cubicBezTo>
                <a:cubicBezTo>
                  <a:pt x="486" y="12592"/>
                  <a:pt x="305" y="11997"/>
                  <a:pt x="183" y="11383"/>
                </a:cubicBezTo>
                <a:cubicBezTo>
                  <a:pt x="61" y="10770"/>
                  <a:pt x="0" y="10150"/>
                  <a:pt x="0" y="9525"/>
                </a:cubicBezTo>
                <a:cubicBezTo>
                  <a:pt x="0" y="8900"/>
                  <a:pt x="61" y="8280"/>
                  <a:pt x="183" y="7667"/>
                </a:cubicBezTo>
                <a:cubicBezTo>
                  <a:pt x="305" y="7053"/>
                  <a:pt x="486" y="6458"/>
                  <a:pt x="725" y="5880"/>
                </a:cubicBezTo>
                <a:cubicBezTo>
                  <a:pt x="964" y="5302"/>
                  <a:pt x="1258" y="4753"/>
                  <a:pt x="1605" y="4233"/>
                </a:cubicBezTo>
                <a:cubicBezTo>
                  <a:pt x="1953" y="3713"/>
                  <a:pt x="2348" y="3232"/>
                  <a:pt x="2790" y="2790"/>
                </a:cubicBezTo>
                <a:cubicBezTo>
                  <a:pt x="3232" y="2348"/>
                  <a:pt x="3713" y="1953"/>
                  <a:pt x="4233" y="1605"/>
                </a:cubicBezTo>
                <a:cubicBezTo>
                  <a:pt x="4753" y="1258"/>
                  <a:pt x="5302" y="964"/>
                  <a:pt x="5880" y="725"/>
                </a:cubicBezTo>
                <a:cubicBezTo>
                  <a:pt x="6458" y="486"/>
                  <a:pt x="7053" y="305"/>
                  <a:pt x="7667" y="183"/>
                </a:cubicBezTo>
                <a:cubicBezTo>
                  <a:pt x="8280" y="61"/>
                  <a:pt x="8900" y="0"/>
                  <a:pt x="9525" y="0"/>
                </a:cubicBezTo>
                <a:cubicBezTo>
                  <a:pt x="10150" y="0"/>
                  <a:pt x="10770" y="61"/>
                  <a:pt x="11383" y="183"/>
                </a:cubicBezTo>
                <a:cubicBezTo>
                  <a:pt x="11997" y="305"/>
                  <a:pt x="12592" y="486"/>
                  <a:pt x="13170" y="725"/>
                </a:cubicBezTo>
                <a:cubicBezTo>
                  <a:pt x="13748" y="964"/>
                  <a:pt x="14297" y="1258"/>
                  <a:pt x="14817" y="1605"/>
                </a:cubicBezTo>
                <a:cubicBezTo>
                  <a:pt x="15337" y="1953"/>
                  <a:pt x="15818" y="2348"/>
                  <a:pt x="16260" y="2790"/>
                </a:cubicBezTo>
                <a:cubicBezTo>
                  <a:pt x="16702" y="3232"/>
                  <a:pt x="17097" y="3713"/>
                  <a:pt x="17445" y="4233"/>
                </a:cubicBezTo>
                <a:cubicBezTo>
                  <a:pt x="17792" y="4753"/>
                  <a:pt x="18086" y="5302"/>
                  <a:pt x="18325" y="5880"/>
                </a:cubicBezTo>
                <a:cubicBezTo>
                  <a:pt x="18564" y="6458"/>
                  <a:pt x="18745" y="7053"/>
                  <a:pt x="18867" y="7667"/>
                </a:cubicBezTo>
                <a:cubicBezTo>
                  <a:pt x="18989" y="8280"/>
                  <a:pt x="19050" y="8900"/>
                  <a:pt x="19050" y="9525"/>
                </a:cubicBezTo>
                <a:close/>
                <a:moveTo>
                  <a:pt x="133350" y="9525"/>
                </a:moveTo>
                <a:cubicBezTo>
                  <a:pt x="133350" y="10150"/>
                  <a:pt x="133289" y="10770"/>
                  <a:pt x="133167" y="11383"/>
                </a:cubicBezTo>
                <a:cubicBezTo>
                  <a:pt x="133045" y="11997"/>
                  <a:pt x="132864" y="12592"/>
                  <a:pt x="132625" y="13170"/>
                </a:cubicBezTo>
                <a:cubicBezTo>
                  <a:pt x="132386" y="13748"/>
                  <a:pt x="132093" y="14297"/>
                  <a:pt x="131745" y="14817"/>
                </a:cubicBezTo>
                <a:cubicBezTo>
                  <a:pt x="131397" y="15337"/>
                  <a:pt x="131002" y="15818"/>
                  <a:pt x="130560" y="16260"/>
                </a:cubicBezTo>
                <a:cubicBezTo>
                  <a:pt x="130118" y="16702"/>
                  <a:pt x="129637" y="17097"/>
                  <a:pt x="129117" y="17445"/>
                </a:cubicBezTo>
                <a:cubicBezTo>
                  <a:pt x="128597" y="17792"/>
                  <a:pt x="128048" y="18086"/>
                  <a:pt x="127470" y="18325"/>
                </a:cubicBezTo>
                <a:cubicBezTo>
                  <a:pt x="126892" y="18564"/>
                  <a:pt x="126297" y="18745"/>
                  <a:pt x="125683" y="18867"/>
                </a:cubicBezTo>
                <a:cubicBezTo>
                  <a:pt x="125070" y="18989"/>
                  <a:pt x="124451" y="19050"/>
                  <a:pt x="123825" y="19050"/>
                </a:cubicBezTo>
                <a:cubicBezTo>
                  <a:pt x="123199" y="19050"/>
                  <a:pt x="122580" y="18989"/>
                  <a:pt x="121967" y="18867"/>
                </a:cubicBezTo>
                <a:cubicBezTo>
                  <a:pt x="121353" y="18745"/>
                  <a:pt x="120758" y="18564"/>
                  <a:pt x="120180" y="18325"/>
                </a:cubicBezTo>
                <a:cubicBezTo>
                  <a:pt x="119602" y="18086"/>
                  <a:pt x="119053" y="17792"/>
                  <a:pt x="118533" y="17445"/>
                </a:cubicBezTo>
                <a:cubicBezTo>
                  <a:pt x="118013" y="17097"/>
                  <a:pt x="117532" y="16702"/>
                  <a:pt x="117090" y="16260"/>
                </a:cubicBezTo>
                <a:cubicBezTo>
                  <a:pt x="116647" y="15818"/>
                  <a:pt x="116253" y="15337"/>
                  <a:pt x="115905" y="14817"/>
                </a:cubicBezTo>
                <a:cubicBezTo>
                  <a:pt x="115557" y="14297"/>
                  <a:pt x="115264" y="13748"/>
                  <a:pt x="115025" y="13170"/>
                </a:cubicBezTo>
                <a:cubicBezTo>
                  <a:pt x="114786" y="12592"/>
                  <a:pt x="114605" y="11997"/>
                  <a:pt x="114483" y="11383"/>
                </a:cubicBezTo>
                <a:cubicBezTo>
                  <a:pt x="114361" y="10770"/>
                  <a:pt x="114300" y="10150"/>
                  <a:pt x="114300" y="9525"/>
                </a:cubicBezTo>
                <a:cubicBezTo>
                  <a:pt x="114300" y="8900"/>
                  <a:pt x="114361" y="8280"/>
                  <a:pt x="114483" y="7667"/>
                </a:cubicBezTo>
                <a:cubicBezTo>
                  <a:pt x="114605" y="7053"/>
                  <a:pt x="114786" y="6458"/>
                  <a:pt x="115025" y="5880"/>
                </a:cubicBezTo>
                <a:cubicBezTo>
                  <a:pt x="115264" y="5302"/>
                  <a:pt x="115557" y="4753"/>
                  <a:pt x="115905" y="4233"/>
                </a:cubicBezTo>
                <a:cubicBezTo>
                  <a:pt x="116253" y="3713"/>
                  <a:pt x="116647" y="3232"/>
                  <a:pt x="117090" y="2790"/>
                </a:cubicBezTo>
                <a:cubicBezTo>
                  <a:pt x="117532" y="2348"/>
                  <a:pt x="118013" y="1953"/>
                  <a:pt x="118533" y="1605"/>
                </a:cubicBezTo>
                <a:cubicBezTo>
                  <a:pt x="119053" y="1258"/>
                  <a:pt x="119602" y="964"/>
                  <a:pt x="120180" y="725"/>
                </a:cubicBezTo>
                <a:cubicBezTo>
                  <a:pt x="120758" y="486"/>
                  <a:pt x="121353" y="305"/>
                  <a:pt x="121967" y="183"/>
                </a:cubicBezTo>
                <a:cubicBezTo>
                  <a:pt x="122580" y="61"/>
                  <a:pt x="123199" y="0"/>
                  <a:pt x="123825" y="0"/>
                </a:cubicBezTo>
                <a:cubicBezTo>
                  <a:pt x="124451" y="0"/>
                  <a:pt x="125070" y="61"/>
                  <a:pt x="125683" y="183"/>
                </a:cubicBezTo>
                <a:cubicBezTo>
                  <a:pt x="126297" y="305"/>
                  <a:pt x="126892" y="486"/>
                  <a:pt x="127470" y="725"/>
                </a:cubicBezTo>
                <a:cubicBezTo>
                  <a:pt x="128048" y="964"/>
                  <a:pt x="128597" y="1258"/>
                  <a:pt x="129117" y="1605"/>
                </a:cubicBezTo>
                <a:cubicBezTo>
                  <a:pt x="129637" y="1953"/>
                  <a:pt x="130118" y="2348"/>
                  <a:pt x="130560" y="2790"/>
                </a:cubicBezTo>
                <a:cubicBezTo>
                  <a:pt x="131002" y="3232"/>
                  <a:pt x="131397" y="3713"/>
                  <a:pt x="131745" y="4233"/>
                </a:cubicBezTo>
                <a:cubicBezTo>
                  <a:pt x="132093" y="4753"/>
                  <a:pt x="132386" y="5302"/>
                  <a:pt x="132625" y="5880"/>
                </a:cubicBezTo>
                <a:cubicBezTo>
                  <a:pt x="132864" y="6458"/>
                  <a:pt x="133045" y="7053"/>
                  <a:pt x="133167" y="7667"/>
                </a:cubicBezTo>
                <a:cubicBezTo>
                  <a:pt x="133289" y="8280"/>
                  <a:pt x="133350" y="8900"/>
                  <a:pt x="133350" y="9525"/>
                </a:cubicBezTo>
                <a:close/>
              </a:path>
            </a:pathLst>
          </a:custGeom>
          <a:solidFill>
            <a:schemeClr val="accent1"/>
          </a:solidFill>
          <a:ln w="9525" cap="flat">
            <a:noFill/>
            <a:prstDash val="solid"/>
            <a:miter/>
          </a:ln>
        </p:spPr>
        <p:txBody>
          <a:bodyPr rtlCol="0" anchor="ctr"/>
          <a:lstStyle/>
          <a:p>
            <a:endParaRPr lang="en-US" sz="1350"/>
          </a:p>
        </p:txBody>
      </p:sp>
    </p:spTree>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Date Area</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9AE70B2-8BF9-45C0-BB95-33D1B9D3A854}" type="slidenum">
              <a:rPr lang="en-US" smtClean="0"/>
              <a:t>‹#›</a:t>
            </a:fld>
            <a:endParaRPr lang="en-US" dirty="0"/>
          </a:p>
        </p:txBody>
      </p:sp>
    </p:spTree>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Date Area</a:t>
            </a: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9AE70B2-8BF9-45C0-BB95-33D1B9D3A854}" type="slidenum">
              <a:rPr lang="en-US" smtClean="0"/>
              <a:t>‹#›</a:t>
            </a:fld>
            <a:endParaRPr lang="en-US" dirty="0"/>
          </a:p>
        </p:txBody>
      </p:sp>
    </p:spTree>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 Area</a:t>
            </a:r>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9AE70B2-8BF9-45C0-BB95-33D1B9D3A854}" type="slidenum">
              <a:rPr lang="en-US" smtClean="0"/>
              <a:t>‹#›</a:t>
            </a:fld>
            <a:endParaRPr lang="en-US" dirty="0"/>
          </a:p>
        </p:txBody>
      </p:sp>
    </p:spTree>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8544C22-EC13-4D2B-BB53-07ACC9C2DCD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4/25/2025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en-US" dirty="0"/>
              <a:t>Click to edit Master title style</a:t>
            </a:r>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lstStyle>
            <a:lvl1pPr>
              <a:defRPr sz="1400">
                <a:latin typeface="+mn-lt"/>
                <a:ea typeface="+mn-ea"/>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lstStyle>
            <a:lvl1pPr algn="ctr">
              <a:defRPr sz="1400">
                <a:latin typeface="+mn-lt"/>
                <a:ea typeface="+mn-ea"/>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en-US" sz="1400" b="0" i="0" u="none" strike="noStrike" kern="1200" cap="none" spc="0" normalizeH="0" baseline="0" noProof="0">
              <a:ln>
                <a:noFill/>
              </a:ln>
              <a:solidFill>
                <a:schemeClr val="tx1"/>
              </a:solidFill>
              <a:effectLst/>
              <a:uLnTx/>
              <a:uFillTx/>
              <a:cs typeface="Arial" panose="020B0604020202020204" pitchFamily="34" charset="0"/>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lstStyle>
            <a:lvl1pPr algn="r">
              <a:defRPr sz="1400">
                <a:latin typeface="+mn-lt"/>
                <a:ea typeface="+mn-ea"/>
              </a:defRPr>
            </a:lvl1pPr>
          </a:lstStyle>
          <a:p>
            <a:pPr lvl="0" eaLnBrk="1" hangingPunct="1"/>
            <a:fld id="{9A0DB2DC-4C9A-4742-B13C-FB6460FD3503}" type="slidenum">
              <a:rPr lang="zh-CN" altLang="en-US" dirty="0"/>
              <a:t>‹#›</a:t>
            </a:fld>
            <a:endParaRPr lang="zh-CN"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1588" y="333375"/>
            <a:ext cx="9144000" cy="1009650"/>
          </a:xfrm>
          <a:prstGeom prst="rect">
            <a:avLst/>
          </a:prstGeom>
          <a:gradFill rotWithShape="0">
            <a:gsLst>
              <a:gs pos="0">
                <a:schemeClr val="bg2">
                  <a:gamma/>
                  <a:tint val="0"/>
                  <a:invGamma/>
                </a:schemeClr>
              </a:gs>
              <a:gs pos="100000">
                <a:schemeClr val="bg2">
                  <a:alpha val="53999"/>
                </a:schemeClr>
              </a:gs>
            </a:gsLst>
            <a:lin ang="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pic>
        <p:nvPicPr>
          <p:cNvPr id="1027" name="Picture 3" descr="关系图"/>
          <p:cNvPicPr>
            <a:picLocks noChangeAspect="1"/>
          </p:cNvPicPr>
          <p:nvPr/>
        </p:nvPicPr>
        <p:blipFill>
          <a:blip r:embed="rId15"/>
          <a:srcRect t="1094" r="8122" b="13318"/>
          <a:stretch>
            <a:fillRect/>
          </a:stretch>
        </p:blipFill>
        <p:spPr>
          <a:xfrm>
            <a:off x="5797550" y="4438650"/>
            <a:ext cx="3340100" cy="2333625"/>
          </a:xfrm>
          <a:prstGeom prst="rect">
            <a:avLst/>
          </a:prstGeom>
          <a:noFill/>
          <a:ln w="9525">
            <a:noFill/>
          </a:ln>
        </p:spPr>
      </p:pic>
      <p:sp>
        <p:nvSpPr>
          <p:cNvPr id="1028" name="Rectangle 4"/>
          <p:cNvSpPr>
            <a:spLocks noGrp="1"/>
          </p:cNvSpPr>
          <p:nvPr>
            <p:ph type="title"/>
          </p:nvPr>
        </p:nvSpPr>
        <p:spPr>
          <a:xfrm>
            <a:off x="457200" y="274638"/>
            <a:ext cx="8229600" cy="1143000"/>
          </a:xfrm>
          <a:prstGeom prst="rect">
            <a:avLst/>
          </a:prstGeom>
          <a:noFill/>
          <a:ln w="9525">
            <a:noFill/>
          </a:ln>
        </p:spPr>
        <p:txBody>
          <a:bodyPr anchor="ctr" anchorCtr="0"/>
          <a:lstStyle/>
          <a:p>
            <a:pPr lvl="0"/>
            <a:r>
              <a:rPr lang="en-US" altLang="zh-CN" dirty="0"/>
              <a:t>Click to edit Master title style</a:t>
            </a:r>
          </a:p>
        </p:txBody>
      </p:sp>
      <p:sp>
        <p:nvSpPr>
          <p:cNvPr id="1029" name="Rectangle 5"/>
          <p:cNvSpPr>
            <a:spLocks noGrp="1"/>
          </p:cNvSpPr>
          <p:nvPr>
            <p:ph type="body" idx="1"/>
          </p:nvPr>
        </p:nvSpPr>
        <p:spPr>
          <a:xfrm>
            <a:off x="457200" y="1600200"/>
            <a:ext cx="8229600" cy="4525963"/>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30" name="Rectangle 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r>
              <a:rPr lang="en-US"/>
              <a:t>Date Area</a:t>
            </a:r>
          </a:p>
        </p:txBody>
      </p:sp>
      <p:sp>
        <p:nvSpPr>
          <p:cNvPr id="1031" name="Rectangle 7"/>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dirty="0"/>
          </a:p>
        </p:txBody>
      </p:sp>
      <p:sp>
        <p:nvSpPr>
          <p:cNvPr id="1032" name="Rectangle 8"/>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49AE70B2-8BF9-45C0-BB95-33D1B9D3A854}" type="slidenum">
              <a:rPr lang="en-US" smtClean="0"/>
              <a:t>‹#›</a:t>
            </a:fld>
            <a:endParaRPr lang="en-US" dirty="0"/>
          </a:p>
        </p:txBody>
      </p:sp>
      <p:sp>
        <p:nvSpPr>
          <p:cNvPr id="5" name="KSO_TEMPLATE" hidden="1"/>
          <p:cNvSpPr/>
          <p:nvPr userDrawn="1">
            <p:custDataLst>
              <p:tags r:id="rId14"/>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ppt_x</p:attrName>
                                        </p:attrNameLst>
                                      </p:cBhvr>
                                      <p:tavLst>
                                        <p:tav tm="0">
                                          <p:val>
                                            <p:strVal val="#ppt_x-.2"/>
                                          </p:val>
                                        </p:tav>
                                        <p:tav tm="100000">
                                          <p:val>
                                            <p:strVal val="#ppt_x"/>
                                          </p:val>
                                        </p:tav>
                                      </p:tavLst>
                                    </p:anim>
                                    <p:anim calcmode="lin" valueType="num">
                                      <p:cBhvr>
                                        <p:cTn id="8" dur="1000" fill="hold"/>
                                        <p:tgtEl>
                                          <p:spTgt spid="10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102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1028"/>
                                        </p:tgtEl>
                                        <p:attrNameLst>
                                          <p:attrName>style.visibility</p:attrName>
                                        </p:attrNameLst>
                                      </p:cBhvr>
                                      <p:to>
                                        <p:strVal val="visible"/>
                                      </p:to>
                                    </p:set>
                                    <p:anim calcmode="lin" valueType="num">
                                      <p:cBhvr>
                                        <p:cTn id="12" dur="1000" fill="hold"/>
                                        <p:tgtEl>
                                          <p:spTgt spid="1028"/>
                                        </p:tgtEl>
                                        <p:attrNameLst>
                                          <p:attrName>ppt_x</p:attrName>
                                        </p:attrNameLst>
                                      </p:cBhvr>
                                      <p:tavLst>
                                        <p:tav tm="0">
                                          <p:val>
                                            <p:strVal val="#ppt_x-.2"/>
                                          </p:val>
                                        </p:tav>
                                        <p:tav tm="100000">
                                          <p:val>
                                            <p:strVal val="#ppt_x"/>
                                          </p:val>
                                        </p:tav>
                                      </p:tavLst>
                                    </p:anim>
                                    <p:anim calcmode="lin" valueType="num">
                                      <p:cBhvr>
                                        <p:cTn id="13" dur="1000" fill="hold"/>
                                        <p:tgtEl>
                                          <p:spTgt spid="102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ldLvl="0" animBg="1"/>
      <p:bldP spid="1028" grpId="0" bldLvl="0"/>
    </p:bldLst>
  </p:timing>
  <p:hf sldNum="0" hdr="0" ft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4.jpeg"/><Relationship Id="rId4"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25.xml"/><Relationship Id="rId7" Type="http://schemas.openxmlformats.org/officeDocument/2006/relationships/notesSlide" Target="../notesSlides/notesSlide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Layout" Target="../slideLayouts/slideLayout1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image" Target="../media/image10.png"/><Relationship Id="rId5" Type="http://schemas.openxmlformats.org/officeDocument/2006/relationships/slideLayout" Target="../slideLayouts/slideLayout18.xml"/><Relationship Id="rId4" Type="http://schemas.openxmlformats.org/officeDocument/2006/relationships/tags" Target="../tags/tag31.xml"/></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34.xml"/><Relationship Id="rId7" Type="http://schemas.openxmlformats.org/officeDocument/2006/relationships/image" Target="../media/image11.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slideLayout" Target="../slideLayouts/slideLayout18.xml"/><Relationship Id="rId5" Type="http://schemas.openxmlformats.org/officeDocument/2006/relationships/tags" Target="../tags/tag36.xml"/><Relationship Id="rId4" Type="http://schemas.openxmlformats.org/officeDocument/2006/relationships/tags" Target="../tags/tag35.xml"/></Relationships>
</file>

<file path=ppt/slides/_rels/slide9.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3.png"/><Relationship Id="rId5" Type="http://schemas.openxmlformats.org/officeDocument/2006/relationships/slideLayout" Target="../slideLayouts/slideLayout18.xml"/><Relationship Id="rId4" Type="http://schemas.openxmlformats.org/officeDocument/2006/relationships/tags" Target="../tags/tag40.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5000">
              <a:schemeClr val="accent1">
                <a:lumMod val="50000"/>
              </a:schemeClr>
            </a:gs>
            <a:gs pos="86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3" name="文本占位符 4"/>
          <p:cNvSpPr>
            <a:spLocks noGrp="1"/>
          </p:cNvSpPr>
          <p:nvPr>
            <p:ph type="body" idx="3"/>
            <p:custDataLst>
              <p:tags r:id="rId2"/>
            </p:custDataLst>
          </p:nvPr>
        </p:nvSpPr>
        <p:spPr>
          <a:xfrm>
            <a:off x="6447259" y="4077072"/>
            <a:ext cx="2376264" cy="2376264"/>
          </a:xfrm>
        </p:spPr>
        <p:txBody>
          <a:bodyPr>
            <a:normAutofit/>
          </a:bodyPr>
          <a:lstStyle/>
          <a:p>
            <a:pPr algn="just"/>
            <a:r>
              <a:rPr lang="en-US" sz="2400" b="1" dirty="0">
                <a:latin typeface="Times New Roman" panose="02020603050405020304" pitchFamily="18" charset="0"/>
                <a:cs typeface="Times New Roman" panose="02020603050405020304" pitchFamily="18" charset="0"/>
              </a:rPr>
              <a:t>ANJUPRIYA</a:t>
            </a:r>
          </a:p>
          <a:p>
            <a:pPr algn="just"/>
            <a:r>
              <a:rPr lang="en-US" sz="2400" b="1" dirty="0">
                <a:latin typeface="Times New Roman" panose="02020603050405020304" pitchFamily="18" charset="0"/>
                <a:cs typeface="Times New Roman" panose="02020603050405020304" pitchFamily="18" charset="0"/>
              </a:rPr>
              <a:t>ANURADHA</a:t>
            </a:r>
          </a:p>
          <a:p>
            <a:pPr algn="just"/>
            <a:r>
              <a:rPr lang="en-US" sz="2400" b="1" dirty="0">
                <a:latin typeface="Times New Roman" panose="02020603050405020304" pitchFamily="18" charset="0"/>
                <a:cs typeface="Times New Roman" panose="02020603050405020304" pitchFamily="18" charset="0"/>
              </a:rPr>
              <a:t>USHARANI</a:t>
            </a:r>
          </a:p>
          <a:p>
            <a:pPr algn="just"/>
            <a:r>
              <a:rPr lang="en-US" sz="2400" b="1" dirty="0">
                <a:latin typeface="Times New Roman" panose="02020603050405020304" pitchFamily="18" charset="0"/>
                <a:cs typeface="Times New Roman" panose="02020603050405020304" pitchFamily="18" charset="0"/>
              </a:rPr>
              <a:t>ABHINASH</a:t>
            </a:r>
          </a:p>
          <a:p>
            <a:pPr algn="just"/>
            <a:r>
              <a:rPr lang="en-US" sz="2400" b="1" dirty="0">
                <a:latin typeface="Times New Roman" panose="02020603050405020304" pitchFamily="18" charset="0"/>
                <a:cs typeface="Times New Roman" panose="02020603050405020304" pitchFamily="18" charset="0"/>
              </a:rPr>
              <a:t>SRIKANTH</a:t>
            </a:r>
          </a:p>
        </p:txBody>
      </p:sp>
      <p:sp>
        <p:nvSpPr>
          <p:cNvPr id="15" name="标题 7"/>
          <p:cNvSpPr>
            <a:spLocks noGrp="1"/>
          </p:cNvSpPr>
          <p:nvPr>
            <p:ph type="title" idx="1"/>
            <p:custDataLst>
              <p:tags r:id="rId3"/>
            </p:custDataLst>
          </p:nvPr>
        </p:nvSpPr>
        <p:spPr>
          <a:xfrm>
            <a:off x="1508132" y="692696"/>
            <a:ext cx="6127259" cy="2736303"/>
          </a:xfrm>
        </p:spPr>
        <p:txBody>
          <a:bodyPr/>
          <a:lstStyle/>
          <a:p>
            <a:r>
              <a:rPr lang="en-US" sz="3200" b="1" dirty="0">
                <a:latin typeface="Times New Roman" panose="02020603050405020304" pitchFamily="18" charset="0"/>
                <a:cs typeface="Times New Roman" panose="02020603050405020304" pitchFamily="18" charset="0"/>
              </a:rPr>
              <a:t>GROUP-6</a:t>
            </a:r>
            <a:br>
              <a:rPr lang="en-US" sz="3200" b="1" dirty="0">
                <a:latin typeface="Times New Roman" panose="02020603050405020304" pitchFamily="18" charset="0"/>
                <a:cs typeface="Times New Roman" panose="02020603050405020304" pitchFamily="18" charset="0"/>
              </a:rPr>
            </a:br>
            <a:br>
              <a:rPr lang="en-US" b="1" dirty="0">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CRM SALESFORCE PROJECT</a:t>
            </a:r>
            <a:br>
              <a:rPr lang="en-US" b="1" dirty="0">
                <a:solidFill>
                  <a:schemeClr val="accent2">
                    <a:lumMod val="75000"/>
                  </a:schemeClr>
                </a:solidFill>
                <a:latin typeface="Times New Roman" panose="02020603050405020304" pitchFamily="18" charset="0"/>
                <a:cs typeface="Times New Roman" panose="02020603050405020304" pitchFamily="18" charset="0"/>
              </a:rPr>
            </a:br>
            <a:endParaRPr lang="en-US"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844B865-58C9-D689-0A9A-F5B3899A12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2536" y="3915171"/>
            <a:ext cx="4320480" cy="2914993"/>
          </a:xfrm>
          <a:prstGeom prst="rect">
            <a:avLst/>
          </a:prstGeom>
          <a:effectLst>
            <a:softEdge rad="381000"/>
          </a:effectLst>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779D9-7BF2-351A-9A82-5A1C3730D06D}"/>
              </a:ext>
            </a:extLst>
          </p:cNvPr>
          <p:cNvSpPr>
            <a:spLocks noGrp="1"/>
          </p:cNvSpPr>
          <p:nvPr>
            <p:ph type="title"/>
          </p:nvPr>
        </p:nvSpPr>
        <p:spPr>
          <a:xfrm>
            <a:off x="0" y="0"/>
            <a:ext cx="9144000" cy="1628800"/>
          </a:xfrm>
        </p:spPr>
        <p:txBody>
          <a:bodyPr/>
          <a:lstStyle/>
          <a:p>
            <a:r>
              <a:rPr lang="en-IN" sz="3200" b="1" dirty="0">
                <a:latin typeface="Times New Roman" panose="02020603050405020304" pitchFamily="18" charset="0"/>
                <a:cs typeface="Times New Roman" panose="02020603050405020304" pitchFamily="18" charset="0"/>
              </a:rPr>
              <a:t>Project summary</a:t>
            </a:r>
          </a:p>
        </p:txBody>
      </p:sp>
      <p:sp>
        <p:nvSpPr>
          <p:cNvPr id="7" name="TextBox 6">
            <a:extLst>
              <a:ext uri="{FF2B5EF4-FFF2-40B4-BE49-F238E27FC236}">
                <a16:creationId xmlns:a16="http://schemas.microsoft.com/office/drawing/2014/main" id="{6C27EA70-C447-3711-3FAC-810C951CC6DD}"/>
              </a:ext>
            </a:extLst>
          </p:cNvPr>
          <p:cNvSpPr txBox="1"/>
          <p:nvPr/>
        </p:nvSpPr>
        <p:spPr>
          <a:xfrm>
            <a:off x="452016" y="2348880"/>
            <a:ext cx="8296448" cy="2345322"/>
          </a:xfrm>
          <a:prstGeom prst="rect">
            <a:avLst/>
          </a:prstGeom>
          <a:noFill/>
        </p:spPr>
        <p:txBody>
          <a:bodyPr wrap="square">
            <a:spAutoFit/>
          </a:bodyPr>
          <a:lstStyle/>
          <a:p>
            <a:pPr>
              <a:lnSpc>
                <a:spcPct val="150000"/>
              </a:lnSpc>
            </a:pPr>
            <a:r>
              <a:rPr lang="en-IN" sz="2000" dirty="0">
                <a:latin typeface="Times New Roman" panose="02020603050405020304" pitchFamily="18" charset="0"/>
                <a:cs typeface="Times New Roman" panose="02020603050405020304" pitchFamily="18" charset="0"/>
              </a:rPr>
              <a:t>The primary objective of the project is to implement and optimize Salesforce CRM to enhance customer relationship management, streamline sales processes, and improve marketing and service capabilities. The project aims to provide a centralized platform for managing leads, opportunities, customer interactions, and performance analytics.</a:t>
            </a:r>
          </a:p>
        </p:txBody>
      </p:sp>
    </p:spTree>
    <p:extLst>
      <p:ext uri="{BB962C8B-B14F-4D97-AF65-F5344CB8AC3E}">
        <p14:creationId xmlns:p14="http://schemas.microsoft.com/office/powerpoint/2010/main" val="1157302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871BE-58F1-5750-69CF-2D9CEF306C1F}"/>
              </a:ext>
            </a:extLst>
          </p:cNvPr>
          <p:cNvSpPr>
            <a:spLocks noGrp="1"/>
          </p:cNvSpPr>
          <p:nvPr>
            <p:ph type="title"/>
          </p:nvPr>
        </p:nvSpPr>
        <p:spPr>
          <a:xfrm>
            <a:off x="0" y="0"/>
            <a:ext cx="9144000" cy="916047"/>
          </a:xfrm>
        </p:spPr>
        <p:txBody>
          <a:bodyPr/>
          <a:lstStyle/>
          <a:p>
            <a:r>
              <a:rPr lang="en-IN" sz="3200" b="1" dirty="0">
                <a:latin typeface="Times New Roman" panose="02020603050405020304" pitchFamily="18" charset="0"/>
                <a:cs typeface="Times New Roman" panose="02020603050405020304" pitchFamily="18" charset="0"/>
              </a:rPr>
              <a:t>KPI LIST</a:t>
            </a:r>
          </a:p>
        </p:txBody>
      </p:sp>
      <p:sp>
        <p:nvSpPr>
          <p:cNvPr id="3" name="TextBox 2">
            <a:extLst>
              <a:ext uri="{FF2B5EF4-FFF2-40B4-BE49-F238E27FC236}">
                <a16:creationId xmlns:a16="http://schemas.microsoft.com/office/drawing/2014/main" id="{07B48DF0-8AF4-8037-62C7-3FB17A768719}"/>
              </a:ext>
            </a:extLst>
          </p:cNvPr>
          <p:cNvSpPr txBox="1"/>
          <p:nvPr/>
        </p:nvSpPr>
        <p:spPr>
          <a:xfrm>
            <a:off x="215516" y="1052736"/>
            <a:ext cx="8712968" cy="532453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Total Leads Generated Measures overall lead inflow in the system.</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Lead Conversion Rate Tracks how many leads successfully converted to customers.</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Opportunity Win Rate Percentage of closed-won vs. total opportunities.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Expected vs. Forecasted Revenue Helps track revenue confidence and accuracy.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Leads/Opportunities by Source &amp; Industry Identifies which channels and industries perform best.</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Sales Stage Distribution Visualizes lead or deal volume at each stage of the sales cycle.</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Closed Won Amount Displays confirmed revenue from successfully closed deals.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3647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3FCD3-67DB-4802-23A5-075111F4A0E3}"/>
              </a:ext>
            </a:extLst>
          </p:cNvPr>
          <p:cNvSpPr>
            <a:spLocks noGrp="1"/>
          </p:cNvSpPr>
          <p:nvPr>
            <p:ph type="title"/>
          </p:nvPr>
        </p:nvSpPr>
        <p:spPr>
          <a:xfrm>
            <a:off x="0" y="0"/>
            <a:ext cx="9144000" cy="1124744"/>
          </a:xfrm>
        </p:spPr>
        <p:txBody>
          <a:bodyPr/>
          <a:lstStyle/>
          <a:p>
            <a:r>
              <a:rPr lang="en-US" sz="3200" b="1" dirty="0">
                <a:solidFill>
                  <a:schemeClr val="tx1"/>
                </a:solidFill>
                <a:latin typeface="Times New Roman" panose="02020603050405020304" pitchFamily="18" charset="0"/>
                <a:cs typeface="Times New Roman" panose="02020603050405020304" pitchFamily="18" charset="0"/>
              </a:rPr>
              <a:t>Excel Dashboard </a:t>
            </a:r>
            <a:endParaRPr lang="en-IN" sz="3200" b="1"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0EF41E0-7D62-12E8-AED7-C6320914A7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032" y="923236"/>
            <a:ext cx="4104456" cy="3297852"/>
          </a:xfrm>
          <a:prstGeom prst="rect">
            <a:avLst/>
          </a:prstGeom>
        </p:spPr>
      </p:pic>
      <p:pic>
        <p:nvPicPr>
          <p:cNvPr id="8" name="Picture 7">
            <a:extLst>
              <a:ext uri="{FF2B5EF4-FFF2-40B4-BE49-F238E27FC236}">
                <a16:creationId xmlns:a16="http://schemas.microsoft.com/office/drawing/2014/main" id="{07CE8192-64EF-19D7-8840-8067D8999E9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2" y="3429000"/>
            <a:ext cx="4517032" cy="3182873"/>
          </a:xfrm>
          <a:prstGeom prst="rect">
            <a:avLst/>
          </a:prstGeom>
        </p:spPr>
      </p:pic>
      <p:sp>
        <p:nvSpPr>
          <p:cNvPr id="11" name="TextBox 10">
            <a:extLst>
              <a:ext uri="{FF2B5EF4-FFF2-40B4-BE49-F238E27FC236}">
                <a16:creationId xmlns:a16="http://schemas.microsoft.com/office/drawing/2014/main" id="{16EECFA3-D513-EA0F-F304-B1556F71BE4F}"/>
              </a:ext>
            </a:extLst>
          </p:cNvPr>
          <p:cNvSpPr txBox="1"/>
          <p:nvPr/>
        </p:nvSpPr>
        <p:spPr>
          <a:xfrm>
            <a:off x="323528" y="1060683"/>
            <a:ext cx="4320480" cy="243143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Excel dashboards present a comprehensive snapshot of total leads, conversions, and opportunity breakdowns.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Segmentation by industry, lead source, and sales stage supports deeper pipeline analysis.</a:t>
            </a:r>
          </a:p>
          <a:p>
            <a:pPr marL="285750" indent="-285750">
              <a:buFont typeface="Arial" panose="020B0604020202020204" pitchFamily="34" charset="0"/>
              <a:buChar char="•"/>
            </a:pPr>
            <a:endParaRPr lang="en-IN" sz="1200" dirty="0"/>
          </a:p>
        </p:txBody>
      </p:sp>
      <p:sp>
        <p:nvSpPr>
          <p:cNvPr id="13" name="TextBox 12">
            <a:extLst>
              <a:ext uri="{FF2B5EF4-FFF2-40B4-BE49-F238E27FC236}">
                <a16:creationId xmlns:a16="http://schemas.microsoft.com/office/drawing/2014/main" id="{490B9356-5BEF-7797-D402-5C98D65F6E12}"/>
              </a:ext>
            </a:extLst>
          </p:cNvPr>
          <p:cNvSpPr txBox="1"/>
          <p:nvPr/>
        </p:nvSpPr>
        <p:spPr>
          <a:xfrm>
            <a:off x="5076056" y="4365104"/>
            <a:ext cx="3635896"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 tools like bar graphs and pie charts make trends and gaps easy to identify.</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Filters and slicers enhance interactivity for on-the-spot exploration of specific segments.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8042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D6FC3-FDAE-4760-6194-3589472E25A5}"/>
              </a:ext>
            </a:extLst>
          </p:cNvPr>
          <p:cNvSpPr>
            <a:spLocks noGrp="1"/>
          </p:cNvSpPr>
          <p:nvPr>
            <p:ph type="title"/>
          </p:nvPr>
        </p:nvSpPr>
        <p:spPr>
          <a:xfrm>
            <a:off x="0" y="0"/>
            <a:ext cx="9144000" cy="836712"/>
          </a:xfrm>
        </p:spPr>
        <p:txBody>
          <a:bodyPr/>
          <a:lstStyle/>
          <a:p>
            <a:r>
              <a:rPr lang="en-IN" sz="3200" b="1" dirty="0">
                <a:latin typeface="Times New Roman" panose="02020603050405020304" pitchFamily="18" charset="0"/>
                <a:cs typeface="Times New Roman" panose="02020603050405020304" pitchFamily="18" charset="0"/>
              </a:rPr>
              <a:t>Trend analysis of Excel</a:t>
            </a:r>
          </a:p>
        </p:txBody>
      </p:sp>
      <p:pic>
        <p:nvPicPr>
          <p:cNvPr id="4" name="Picture 3">
            <a:extLst>
              <a:ext uri="{FF2B5EF4-FFF2-40B4-BE49-F238E27FC236}">
                <a16:creationId xmlns:a16="http://schemas.microsoft.com/office/drawing/2014/main" id="{C174607D-0B1C-CC10-8CAA-B98F2D08EC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524" y="3140968"/>
            <a:ext cx="8532948" cy="3600400"/>
          </a:xfrm>
          <a:prstGeom prst="rect">
            <a:avLst/>
          </a:prstGeom>
        </p:spPr>
      </p:pic>
      <p:sp>
        <p:nvSpPr>
          <p:cNvPr id="5" name="TextBox 4">
            <a:extLst>
              <a:ext uri="{FF2B5EF4-FFF2-40B4-BE49-F238E27FC236}">
                <a16:creationId xmlns:a16="http://schemas.microsoft.com/office/drawing/2014/main" id="{EB8F089E-C217-0159-60A2-A6729B120627}"/>
              </a:ext>
            </a:extLst>
          </p:cNvPr>
          <p:cNvSpPr txBox="1"/>
          <p:nvPr/>
        </p:nvSpPr>
        <p:spPr>
          <a:xfrm>
            <a:off x="287524" y="905232"/>
            <a:ext cx="8568952" cy="2523768"/>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Excel enables conversion analysis — helping identify which stages are performing and which need improvement.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indicators (like conversion percentages) support faster decision-making.</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Historical comparisons and lead source effectiveness can be easily tracked.</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 breakdowns of expected revenue help in prioritizing high-potential opportunities.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25601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363" name="Picture 9"/>
          <p:cNvPicPr>
            <a:picLocks noChangeAspect="1"/>
          </p:cNvPicPr>
          <p:nvPr>
            <p:custDataLst>
              <p:tags r:id="rId2"/>
            </p:custDataLst>
          </p:nvPr>
        </p:nvPicPr>
        <p:blipFill>
          <a:blip r:embed="rId8"/>
          <a:srcRect l="13383" t="15500" r="16145" b="14664"/>
          <a:stretch>
            <a:fillRect/>
          </a:stretch>
        </p:blipFill>
        <p:spPr>
          <a:xfrm>
            <a:off x="4932040" y="980728"/>
            <a:ext cx="4083918" cy="2880320"/>
          </a:xfrm>
          <a:prstGeom prst="rect">
            <a:avLst/>
          </a:prstGeom>
          <a:noFill/>
          <a:ln w="9525">
            <a:noFill/>
          </a:ln>
        </p:spPr>
      </p:pic>
      <p:pic>
        <p:nvPicPr>
          <p:cNvPr id="15364" name="Picture 11"/>
          <p:cNvPicPr>
            <a:picLocks noChangeAspect="1"/>
          </p:cNvPicPr>
          <p:nvPr>
            <p:custDataLst>
              <p:tags r:id="rId3"/>
            </p:custDataLst>
          </p:nvPr>
        </p:nvPicPr>
        <p:blipFill>
          <a:blip r:embed="rId9"/>
          <a:srcRect l="13396" t="15530" r="15741" b="14484"/>
          <a:stretch>
            <a:fillRect/>
          </a:stretch>
        </p:blipFill>
        <p:spPr>
          <a:xfrm>
            <a:off x="519428" y="3573017"/>
            <a:ext cx="4217035" cy="3011090"/>
          </a:xfrm>
          <a:prstGeom prst="rect">
            <a:avLst/>
          </a:prstGeom>
          <a:noFill/>
          <a:ln w="9525">
            <a:noFill/>
          </a:ln>
        </p:spPr>
      </p:pic>
      <p:sp>
        <p:nvSpPr>
          <p:cNvPr id="15365" name="TextBox 13"/>
          <p:cNvSpPr txBox="1"/>
          <p:nvPr>
            <p:custDataLst>
              <p:tags r:id="rId4"/>
            </p:custDataLst>
          </p:nvPr>
        </p:nvSpPr>
        <p:spPr>
          <a:xfrm>
            <a:off x="323850" y="1124745"/>
            <a:ext cx="4608190" cy="1872207"/>
          </a:xfrm>
          <a:prstGeom prst="rect">
            <a:avLst/>
          </a:prstGeom>
          <a:noFill/>
          <a:ln w="9525">
            <a:noFill/>
          </a:ln>
        </p:spPr>
        <p:txBody>
          <a:bodyPr wrap="square">
            <a:noAutofit/>
          </a:bodyPr>
          <a:lstStyle/>
          <a:p>
            <a:pPr marL="285750" indent="-285750" eaLnBrk="1" hangingPunct="1">
              <a:lnSpc>
                <a:spcPct val="120000"/>
              </a:lnSpc>
              <a:buFont typeface="Arial" panose="020B0604020202020204" pitchFamily="34" charset="0"/>
              <a:buChar char="•"/>
            </a:pPr>
            <a:r>
              <a:rPr lang="en-GB" altLang="x-none"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Power BI transforms raw Salesforce data into actionable insights, enabling better control over the sales funnel.</a:t>
            </a:r>
            <a:br>
              <a:rPr lang="en-GB" altLang="x-none"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GB" altLang="x-none"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eaLnBrk="1" hangingPunct="1">
              <a:lnSpc>
                <a:spcPct val="120000"/>
              </a:lnSpc>
              <a:buFont typeface="Arial" panose="020B0604020202020204" pitchFamily="34" charset="0"/>
              <a:buChar char="•"/>
            </a:pPr>
            <a:r>
              <a:rPr lang="en-GB" altLang="x-none"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Sales teams can easily track performance by region, industry, and opportunity status – helping focus efforts where it matters most.</a:t>
            </a:r>
          </a:p>
        </p:txBody>
      </p:sp>
      <p:sp>
        <p:nvSpPr>
          <p:cNvPr id="10" name="Title 7"/>
          <p:cNvSpPr>
            <a:spLocks noGrp="1"/>
          </p:cNvSpPr>
          <p:nvPr>
            <p:custDataLst>
              <p:tags r:id="rId5"/>
            </p:custDataLst>
          </p:nvPr>
        </p:nvSpPr>
        <p:spPr>
          <a:xfrm>
            <a:off x="0" y="1"/>
            <a:ext cx="9144000" cy="854466"/>
          </a:xfrm>
          <a:prstGeom prst="rect">
            <a:avLst/>
          </a:prstGeom>
          <a:noFill/>
          <a:ln w="9525">
            <a:noFill/>
          </a:ln>
        </p:spPr>
        <p:txBody>
          <a:bodyPr vert="horz" wrap="square" lIns="91440" tIns="45720" rIns="91440" bIns="45720" rtlCol="0" anchor="ctr" anchorCtr="0">
            <a:normAutofit fontScale="97500"/>
          </a:bodyPr>
          <a:lstStyle>
            <a:lvl1pPr marL="0" marR="0" algn="ctr" defTabSz="685800" rtl="0" eaLnBrk="1" fontAlgn="base" latinLnBrk="0" hangingPunct="1">
              <a:lnSpc>
                <a:spcPct val="100000"/>
              </a:lnSpc>
              <a:spcBef>
                <a:spcPct val="0"/>
              </a:spcBef>
              <a:buClrTx/>
              <a:buSzTx/>
              <a:buFontTx/>
              <a:buNone/>
              <a:defRPr kumimoji="0" lang="en-GB" altLang="x-none" sz="2800" b="0" i="0" u="none" strike="noStrike" kern="1200" cap="none" spc="0" normalizeH="0" baseline="0" noProof="1" dirty="0">
                <a:solidFill>
                  <a:srgbClr val="000000"/>
                </a:solidFill>
                <a:latin typeface="+mj-lt"/>
                <a:ea typeface="+mj-ea"/>
                <a:cs typeface="+mj-cs"/>
              </a:defRPr>
            </a:lvl1pPr>
          </a:lstStyle>
          <a:p>
            <a:r>
              <a:rPr altLang="en-US" sz="3200" b="1" dirty="0">
                <a:solidFill>
                  <a:schemeClr val="tx1"/>
                </a:solidFill>
                <a:latin typeface="Times New Roman" panose="02020603050405020304" pitchFamily="18" charset="0"/>
                <a:cs typeface="Times New Roman" panose="02020603050405020304" pitchFamily="18" charset="0"/>
              </a:rPr>
              <a:t>Power BI for Sales and Opportunity Tracking</a:t>
            </a:r>
            <a:r>
              <a:rPr altLang="en-US" sz="3200" b="1" dirty="0">
                <a:solidFill>
                  <a:schemeClr val="tx1"/>
                </a:solidFill>
              </a:rPr>
              <a:t>  </a:t>
            </a:r>
          </a:p>
        </p:txBody>
      </p:sp>
      <p:sp>
        <p:nvSpPr>
          <p:cNvPr id="13" name="Text Box 12"/>
          <p:cNvSpPr txBox="1"/>
          <p:nvPr/>
        </p:nvSpPr>
        <p:spPr>
          <a:xfrm>
            <a:off x="4798923" y="3987309"/>
            <a:ext cx="4217035" cy="2104102"/>
          </a:xfrm>
          <a:prstGeom prst="rect">
            <a:avLst/>
          </a:prstGeom>
          <a:noFill/>
        </p:spPr>
        <p:txBody>
          <a:bodyPr wrap="square" rtlCol="0">
            <a:noAutofit/>
          </a:bodyPr>
          <a:lstStyle/>
          <a:p>
            <a:pPr marL="285750" indent="-285750" eaLnBrk="1" hangingPunct="1">
              <a:lnSpc>
                <a:spcPct val="110000"/>
              </a:lnSpc>
              <a:buFont typeface="Arial" panose="020B0604020202020204" pitchFamily="34" charset="0"/>
              <a:buChar char="•"/>
            </a:pPr>
            <a:r>
              <a:rPr lang="en-GB" altLang="x-none" sz="1600" dirty="0">
                <a:latin typeface="Times New Roman" panose="02020603050405020304" pitchFamily="18" charset="0"/>
                <a:ea typeface="Calibri" panose="020F0502020204030204" pitchFamily="34" charset="0"/>
                <a:cs typeface="Times New Roman" panose="02020603050405020304" pitchFamily="18" charset="0"/>
                <a:sym typeface="+mn-ea"/>
              </a:rPr>
              <a:t>The dashboard highlights which lead sources are most effective, helping allocate marketing budgets strategically.</a:t>
            </a:r>
            <a:br>
              <a:rPr lang="en-GB" altLang="x-none" sz="1600" dirty="0">
                <a:latin typeface="Times New Roman" panose="02020603050405020304" pitchFamily="18" charset="0"/>
                <a:ea typeface="Calibri" panose="020F0502020204030204" pitchFamily="34" charset="0"/>
                <a:cs typeface="Times New Roman" panose="02020603050405020304" pitchFamily="18" charset="0"/>
                <a:sym typeface="+mn-ea"/>
              </a:rPr>
            </a:br>
            <a:endParaRPr lang="en-GB" altLang="x-none"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eaLnBrk="1" hangingPunct="1">
              <a:lnSpc>
                <a:spcPct val="110000"/>
              </a:lnSpc>
              <a:buFont typeface="Arial" panose="020B0604020202020204" pitchFamily="34" charset="0"/>
              <a:buChar char="•"/>
            </a:pPr>
            <a:r>
              <a:rPr lang="en-GB" altLang="x-none" sz="1600" dirty="0">
                <a:latin typeface="Times New Roman" panose="02020603050405020304" pitchFamily="18" charset="0"/>
                <a:ea typeface="Calibri" panose="020F0502020204030204" pitchFamily="34" charset="0"/>
                <a:cs typeface="Times New Roman" panose="02020603050405020304" pitchFamily="18" charset="0"/>
                <a:sym typeface="+mn-ea"/>
              </a:rPr>
              <a:t>With quick drill-downs into pipeline stages, teams can identify stalled deals and re-engage them.</a:t>
            </a:r>
            <a:endParaRPr lang="en-GB" altLang="x-none" sz="16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endParaRPr lang="en-GB" altLang="en-US" sz="1600"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Screenshot (236)"/>
          <p:cNvPicPr>
            <a:picLocks noChangeAspect="1"/>
          </p:cNvPicPr>
          <p:nvPr>
            <p:custDataLst>
              <p:tags r:id="rId2"/>
            </p:custDataLst>
          </p:nvPr>
        </p:nvPicPr>
        <p:blipFill>
          <a:blip r:embed="rId6"/>
          <a:srcRect l="13778" t="14966" r="16139" b="13752"/>
          <a:stretch>
            <a:fillRect/>
          </a:stretch>
        </p:blipFill>
        <p:spPr>
          <a:xfrm>
            <a:off x="420226" y="3464025"/>
            <a:ext cx="8330023" cy="3302229"/>
          </a:xfrm>
          <a:prstGeom prst="rect">
            <a:avLst/>
          </a:prstGeom>
        </p:spPr>
      </p:pic>
      <p:sp>
        <p:nvSpPr>
          <p:cNvPr id="4" name="Text Box 3"/>
          <p:cNvSpPr txBox="1"/>
          <p:nvPr>
            <p:custDataLst>
              <p:tags r:id="rId3"/>
            </p:custDataLst>
          </p:nvPr>
        </p:nvSpPr>
        <p:spPr>
          <a:xfrm>
            <a:off x="420226" y="1089720"/>
            <a:ext cx="8617585" cy="2304256"/>
          </a:xfrm>
          <a:prstGeom prst="rect">
            <a:avLst/>
          </a:prstGeom>
          <a:noFill/>
        </p:spPr>
        <p:txBody>
          <a:bodyPr wrap="square" rtlCol="0">
            <a:noAutofit/>
          </a:bodyPr>
          <a:lstStyle/>
          <a:p>
            <a:pPr marL="285750" indent="-285750">
              <a:buFont typeface="Arial" panose="020B0604020202020204" pitchFamily="34" charset="0"/>
              <a:buChar char="•"/>
            </a:pPr>
            <a:r>
              <a:rPr lang="en-US" altLang="en-GB" dirty="0">
                <a:solidFill>
                  <a:schemeClr val="tx1"/>
                </a:solidFill>
                <a:latin typeface="Times New Roman" panose="02020603050405020304" pitchFamily="18" charset="0"/>
                <a:cs typeface="Times New Roman" panose="02020603050405020304" pitchFamily="18" charset="0"/>
              </a:rPr>
              <a:t>Trend visuals in Power BI showcase how the sales journey has evolved over the years – highlighting growth opportunities and seasonal dips.</a:t>
            </a:r>
          </a:p>
          <a:p>
            <a:pPr marL="285750" indent="-285750">
              <a:buFont typeface="Arial" panose="020B0604020202020204" pitchFamily="34" charset="0"/>
              <a:buChar char="•"/>
            </a:pPr>
            <a:r>
              <a:rPr lang="en-US" altLang="en-GB" dirty="0">
                <a:solidFill>
                  <a:schemeClr val="tx1"/>
                </a:solidFill>
                <a:latin typeface="Times New Roman" panose="02020603050405020304" pitchFamily="18" charset="0"/>
                <a:cs typeface="Times New Roman" panose="02020603050405020304" pitchFamily="18" charset="0"/>
              </a:rPr>
              <a:t>By comparing forecasts with actual closures, the dashboard helps improve accuracy and build trust in sales projections.</a:t>
            </a:r>
          </a:p>
          <a:p>
            <a:pPr marL="285750" indent="-285750">
              <a:buFont typeface="Arial" panose="020B0604020202020204" pitchFamily="34" charset="0"/>
              <a:buChar char="•"/>
            </a:pPr>
            <a:r>
              <a:rPr lang="en-US" altLang="en-GB" dirty="0">
                <a:solidFill>
                  <a:schemeClr val="tx1"/>
                </a:solidFill>
                <a:latin typeface="Times New Roman" panose="02020603050405020304" pitchFamily="18" charset="0"/>
                <a:cs typeface="Times New Roman" panose="02020603050405020304" pitchFamily="18" charset="0"/>
              </a:rPr>
              <a:t>Business leaders can make proactive decisions by identifying when and why conversion rates fluctuate.</a:t>
            </a:r>
          </a:p>
          <a:p>
            <a:pPr marL="285750" indent="-285750">
              <a:buFont typeface="Arial" panose="020B0604020202020204" pitchFamily="34" charset="0"/>
              <a:buChar char="•"/>
            </a:pPr>
            <a:r>
              <a:rPr lang="en-US" altLang="en-GB" dirty="0">
                <a:solidFill>
                  <a:schemeClr val="tx1"/>
                </a:solidFill>
                <a:latin typeface="Times New Roman" panose="02020603050405020304" pitchFamily="18" charset="0"/>
                <a:cs typeface="Times New Roman" panose="02020603050405020304" pitchFamily="18" charset="0"/>
              </a:rPr>
              <a:t>Power BI empowers stakeholders to shift from reactive to predictive sales strategies using real-time data trends.</a:t>
            </a:r>
          </a:p>
        </p:txBody>
      </p:sp>
      <p:sp>
        <p:nvSpPr>
          <p:cNvPr id="13" name="Title 11"/>
          <p:cNvSpPr>
            <a:spLocks noGrp="1"/>
          </p:cNvSpPr>
          <p:nvPr>
            <p:custDataLst>
              <p:tags r:id="rId4"/>
            </p:custDataLst>
          </p:nvPr>
        </p:nvSpPr>
        <p:spPr>
          <a:xfrm>
            <a:off x="0" y="-1"/>
            <a:ext cx="9144000" cy="1019671"/>
          </a:xfrm>
          <a:prstGeom prst="rect">
            <a:avLst/>
          </a:prstGeom>
          <a:noFill/>
          <a:ln w="9525">
            <a:noFill/>
          </a:ln>
        </p:spPr>
        <p:txBody>
          <a:bodyPr vert="horz" wrap="square" lIns="91440" tIns="45720" rIns="91440" bIns="45720" rtlCol="0" anchor="ctr" anchorCtr="0">
            <a:noAutofit/>
          </a:bodyPr>
          <a:lstStyle>
            <a:lvl1pPr marL="0" marR="0" algn="ctr" defTabSz="685800" rtl="0" eaLnBrk="1" fontAlgn="base" latinLnBrk="0" hangingPunct="1">
              <a:lnSpc>
                <a:spcPct val="100000"/>
              </a:lnSpc>
              <a:spcBef>
                <a:spcPct val="0"/>
              </a:spcBef>
              <a:buClrTx/>
              <a:buSzTx/>
              <a:buFontTx/>
              <a:buNone/>
              <a:defRPr kumimoji="0" lang="en-GB" altLang="x-none" sz="2800" b="0" i="0" u="none" strike="noStrike" kern="1200" cap="none" spc="0" normalizeH="0" baseline="0" noProof="1" dirty="0">
                <a:solidFill>
                  <a:srgbClr val="000000"/>
                </a:solidFill>
                <a:latin typeface="+mj-lt"/>
                <a:ea typeface="+mj-ea"/>
                <a:cs typeface="+mj-cs"/>
              </a:defRPr>
            </a:lvl1pPr>
          </a:lstStyle>
          <a:p>
            <a:r>
              <a:rPr altLang="en-US" sz="3200" b="1" dirty="0">
                <a:solidFill>
                  <a:schemeClr val="tx1"/>
                </a:solidFill>
                <a:latin typeface="Times New Roman" panose="02020603050405020304" pitchFamily="18" charset="0"/>
                <a:cs typeface="Times New Roman" panose="02020603050405020304" pitchFamily="18" charset="0"/>
              </a:rPr>
              <a:t>Driving Strategy Through Trend Analysis </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Screenshot (238)"/>
          <p:cNvPicPr>
            <a:picLocks noChangeAspect="1"/>
          </p:cNvPicPr>
          <p:nvPr>
            <p:custDataLst>
              <p:tags r:id="rId2"/>
            </p:custDataLst>
          </p:nvPr>
        </p:nvPicPr>
        <p:blipFill>
          <a:blip r:embed="rId7"/>
          <a:srcRect t="5198" b="3802"/>
          <a:stretch>
            <a:fillRect/>
          </a:stretch>
        </p:blipFill>
        <p:spPr>
          <a:xfrm>
            <a:off x="4950291" y="908720"/>
            <a:ext cx="4058285" cy="3240360"/>
          </a:xfrm>
          <a:prstGeom prst="rect">
            <a:avLst/>
          </a:prstGeom>
        </p:spPr>
      </p:pic>
      <p:pic>
        <p:nvPicPr>
          <p:cNvPr id="4" name="Picture 3" descr="Screenshot (240)"/>
          <p:cNvPicPr>
            <a:picLocks noChangeAspect="1"/>
          </p:cNvPicPr>
          <p:nvPr>
            <p:custDataLst>
              <p:tags r:id="rId3"/>
            </p:custDataLst>
          </p:nvPr>
        </p:nvPicPr>
        <p:blipFill>
          <a:blip r:embed="rId8"/>
          <a:srcRect t="5198" b="3802"/>
          <a:stretch>
            <a:fillRect/>
          </a:stretch>
        </p:blipFill>
        <p:spPr>
          <a:xfrm>
            <a:off x="259573" y="3266578"/>
            <a:ext cx="4425950" cy="3394522"/>
          </a:xfrm>
          <a:prstGeom prst="rect">
            <a:avLst/>
          </a:prstGeom>
        </p:spPr>
      </p:pic>
      <p:sp>
        <p:nvSpPr>
          <p:cNvPr id="5" name="Text Box 4"/>
          <p:cNvSpPr txBox="1"/>
          <p:nvPr>
            <p:custDataLst>
              <p:tags r:id="rId4"/>
            </p:custDataLst>
          </p:nvPr>
        </p:nvSpPr>
        <p:spPr>
          <a:xfrm>
            <a:off x="251520" y="980728"/>
            <a:ext cx="4535805" cy="2069827"/>
          </a:xfrm>
          <a:prstGeom prst="rect">
            <a:avLst/>
          </a:prstGeom>
          <a:noFill/>
        </p:spPr>
        <p:txBody>
          <a:bodyPr wrap="square" rtlCol="0">
            <a:noAutofit/>
          </a:bodyPr>
          <a:lstStyle/>
          <a:p>
            <a:pPr marL="285750" indent="-285750">
              <a:lnSpc>
                <a:spcPct val="110000"/>
              </a:lnSpc>
              <a:buFont typeface="Arial" panose="020B0604020202020204" pitchFamily="34" charset="0"/>
              <a:buChar char="•"/>
            </a:pPr>
            <a:r>
              <a:rPr lang="en-US" altLang="en-GB" sz="1500" dirty="0">
                <a:solidFill>
                  <a:schemeClr val="tx1"/>
                </a:solidFill>
                <a:latin typeface="Times New Roman" panose="02020603050405020304" pitchFamily="18" charset="0"/>
                <a:cs typeface="Times New Roman" panose="02020603050405020304" pitchFamily="18" charset="0"/>
              </a:rPr>
              <a:t>Tableau enables dynamic dashboards where sales data can be filtered and sliced across dimensions like region, product, and industry.</a:t>
            </a:r>
            <a:br>
              <a:rPr lang="en-US" altLang="en-GB" sz="1500" dirty="0">
                <a:solidFill>
                  <a:schemeClr val="tx1"/>
                </a:solidFill>
                <a:latin typeface="Times New Roman" panose="02020603050405020304" pitchFamily="18" charset="0"/>
                <a:cs typeface="Times New Roman" panose="02020603050405020304" pitchFamily="18" charset="0"/>
              </a:rPr>
            </a:br>
            <a:endParaRPr lang="en-US" altLang="en-GB" sz="1500" dirty="0">
              <a:solidFill>
                <a:schemeClr val="tx1"/>
              </a:solidFill>
              <a:latin typeface="Times New Roman" panose="02020603050405020304" pitchFamily="18" charset="0"/>
              <a:cs typeface="Times New Roman" panose="02020603050405020304" pitchFamily="18" charset="0"/>
            </a:endParaRPr>
          </a:p>
          <a:p>
            <a:pPr marL="285750" indent="-285750">
              <a:lnSpc>
                <a:spcPct val="140000"/>
              </a:lnSpc>
              <a:buFont typeface="Arial" panose="020B0604020202020204" pitchFamily="34" charset="0"/>
              <a:buChar char="•"/>
            </a:pPr>
            <a:r>
              <a:rPr lang="en-US" altLang="en-GB" sz="1500" dirty="0">
                <a:solidFill>
                  <a:schemeClr val="tx1"/>
                </a:solidFill>
                <a:latin typeface="Times New Roman" panose="02020603050405020304" pitchFamily="18" charset="0"/>
                <a:cs typeface="Times New Roman" panose="02020603050405020304" pitchFamily="18" charset="0"/>
              </a:rPr>
              <a:t>Visualizations such as heat maps and bar charts make it easy to spot high-performing sales channels and underperforming segments</a:t>
            </a:r>
            <a:r>
              <a:rPr lang="en-US" altLang="en-GB" sz="1500" dirty="0">
                <a:solidFill>
                  <a:schemeClr val="tx1"/>
                </a:solidFill>
                <a:latin typeface="+mn-lt"/>
              </a:rPr>
              <a:t>.</a:t>
            </a:r>
            <a:br>
              <a:rPr lang="en-US" altLang="en-GB" sz="1500" dirty="0">
                <a:solidFill>
                  <a:schemeClr val="tx1"/>
                </a:solidFill>
                <a:latin typeface="+mn-lt"/>
              </a:rPr>
            </a:br>
            <a:endParaRPr lang="en-US" altLang="en-GB" sz="1500" dirty="0">
              <a:solidFill>
                <a:schemeClr val="tx1"/>
              </a:solidFill>
              <a:latin typeface="+mn-lt"/>
            </a:endParaRPr>
          </a:p>
          <a:p>
            <a:pPr marL="285750" indent="-285750" algn="just">
              <a:lnSpc>
                <a:spcPct val="110000"/>
              </a:lnSpc>
              <a:buFont typeface="Arial" panose="020B0604020202020204" pitchFamily="34" charset="0"/>
              <a:buChar char="•"/>
            </a:pPr>
            <a:endParaRPr lang="en-US" altLang="en-GB" sz="1000" dirty="0">
              <a:solidFill>
                <a:schemeClr val="tx1"/>
              </a:solidFill>
              <a:latin typeface="+mn-lt"/>
            </a:endParaRPr>
          </a:p>
        </p:txBody>
      </p:sp>
      <p:sp>
        <p:nvSpPr>
          <p:cNvPr id="14" name="Title 12"/>
          <p:cNvSpPr>
            <a:spLocks noGrp="1"/>
          </p:cNvSpPr>
          <p:nvPr>
            <p:custDataLst>
              <p:tags r:id="rId5"/>
            </p:custDataLst>
          </p:nvPr>
        </p:nvSpPr>
        <p:spPr>
          <a:xfrm>
            <a:off x="0" y="1"/>
            <a:ext cx="9144000" cy="764704"/>
          </a:xfrm>
          <a:prstGeom prst="rect">
            <a:avLst/>
          </a:prstGeom>
          <a:noFill/>
          <a:ln w="9525">
            <a:noFill/>
          </a:ln>
        </p:spPr>
        <p:txBody>
          <a:bodyPr vert="horz" wrap="square" lIns="91440" tIns="45720" rIns="91440" bIns="45720" rtlCol="0" anchor="ctr" anchorCtr="0">
            <a:normAutofit/>
          </a:bodyPr>
          <a:lstStyle>
            <a:lvl1pPr marL="0" marR="0" algn="ctr" defTabSz="685800" rtl="0" eaLnBrk="1" fontAlgn="base" latinLnBrk="0" hangingPunct="1">
              <a:lnSpc>
                <a:spcPct val="100000"/>
              </a:lnSpc>
              <a:spcBef>
                <a:spcPct val="0"/>
              </a:spcBef>
              <a:buClrTx/>
              <a:buSzTx/>
              <a:buFontTx/>
              <a:buNone/>
              <a:defRPr kumimoji="0" lang="en-GB" altLang="x-none" sz="2800" b="0" i="0" u="none" strike="noStrike" kern="1200" cap="none" spc="0" normalizeH="0" baseline="0" noProof="1" dirty="0">
                <a:solidFill>
                  <a:srgbClr val="000000"/>
                </a:solidFill>
                <a:latin typeface="+mj-lt"/>
                <a:ea typeface="+mj-ea"/>
                <a:cs typeface="+mj-cs"/>
              </a:defRPr>
            </a:lvl1pPr>
          </a:lstStyle>
          <a:p>
            <a:r>
              <a:rPr altLang="en-US" sz="3200" b="1" dirty="0">
                <a:solidFill>
                  <a:schemeClr val="tx1"/>
                </a:solidFill>
                <a:latin typeface="Times New Roman" panose="02020603050405020304" pitchFamily="18" charset="0"/>
                <a:cs typeface="Times New Roman" panose="02020603050405020304" pitchFamily="18" charset="0"/>
              </a:rPr>
              <a:t>Tableau for Sales and Opportunity Tracking </a:t>
            </a:r>
          </a:p>
        </p:txBody>
      </p:sp>
      <p:sp>
        <p:nvSpPr>
          <p:cNvPr id="16" name="Text Box 15"/>
          <p:cNvSpPr txBox="1"/>
          <p:nvPr/>
        </p:nvSpPr>
        <p:spPr>
          <a:xfrm>
            <a:off x="4994275" y="4358257"/>
            <a:ext cx="4149725" cy="2279015"/>
          </a:xfrm>
          <a:prstGeom prst="rect">
            <a:avLst/>
          </a:prstGeom>
          <a:noFill/>
        </p:spPr>
        <p:txBody>
          <a:bodyPr wrap="square" rtlCol="0">
            <a:noAutofit/>
          </a:bodyPr>
          <a:lstStyle/>
          <a:p>
            <a:pPr marL="285750" indent="-285750">
              <a:lnSpc>
                <a:spcPct val="110000"/>
              </a:lnSpc>
              <a:buFont typeface="Arial" panose="020B0604020202020204" pitchFamily="34" charset="0"/>
              <a:buChar char="•"/>
            </a:pPr>
            <a:r>
              <a:rPr lang="en-US" altLang="en-GB" sz="1600" dirty="0">
                <a:latin typeface="Times New Roman" panose="02020603050405020304" pitchFamily="18" charset="0"/>
                <a:cs typeface="Times New Roman" panose="02020603050405020304" pitchFamily="18" charset="0"/>
                <a:sym typeface="+mn-ea"/>
              </a:rPr>
              <a:t>Real-time opportunity tracking helps the team stay aligned on targets and deal closure status.</a:t>
            </a:r>
            <a:br>
              <a:rPr lang="en-US" altLang="en-GB" sz="1600" dirty="0">
                <a:latin typeface="Times New Roman" panose="02020603050405020304" pitchFamily="18" charset="0"/>
                <a:cs typeface="Times New Roman" panose="02020603050405020304" pitchFamily="18" charset="0"/>
                <a:sym typeface="+mn-ea"/>
              </a:rPr>
            </a:br>
            <a:endParaRPr lang="en-US" altLang="en-GB" sz="1600" dirty="0">
              <a:solidFill>
                <a:schemeClr val="tx1"/>
              </a:solidFill>
              <a:latin typeface="Times New Roman" panose="02020603050405020304" pitchFamily="18" charset="0"/>
              <a:cs typeface="Times New Roman" panose="02020603050405020304" pitchFamily="18" charset="0"/>
            </a:endParaRPr>
          </a:p>
          <a:p>
            <a:pPr marL="285750" indent="-285750">
              <a:lnSpc>
                <a:spcPct val="110000"/>
              </a:lnSpc>
              <a:buFont typeface="Arial" panose="020B0604020202020204" pitchFamily="34" charset="0"/>
              <a:buChar char="•"/>
            </a:pPr>
            <a:r>
              <a:rPr lang="en-US" altLang="en-GB" sz="1600" dirty="0">
                <a:latin typeface="Times New Roman" panose="02020603050405020304" pitchFamily="18" charset="0"/>
                <a:cs typeface="Times New Roman" panose="02020603050405020304" pitchFamily="18" charset="0"/>
                <a:sym typeface="+mn-ea"/>
              </a:rPr>
              <a:t>Sales reps and managers can quickly assess which industries or territories need more attention.</a:t>
            </a:r>
            <a:endParaRPr lang="en-GB" altLang="en-US" sz="16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descr="Screenshot (239)"/>
          <p:cNvPicPr>
            <a:picLocks noChangeAspect="1"/>
          </p:cNvPicPr>
          <p:nvPr>
            <p:custDataLst>
              <p:tags r:id="rId2"/>
            </p:custDataLst>
          </p:nvPr>
        </p:nvPicPr>
        <p:blipFill>
          <a:blip r:embed="rId6"/>
          <a:srcRect t="5198" b="3802"/>
          <a:stretch>
            <a:fillRect/>
          </a:stretch>
        </p:blipFill>
        <p:spPr>
          <a:xfrm>
            <a:off x="255974" y="3527378"/>
            <a:ext cx="8632052" cy="3330622"/>
          </a:xfrm>
          <a:prstGeom prst="rect">
            <a:avLst/>
          </a:prstGeom>
        </p:spPr>
      </p:pic>
      <p:sp>
        <p:nvSpPr>
          <p:cNvPr id="4" name="Text Box 3"/>
          <p:cNvSpPr txBox="1"/>
          <p:nvPr>
            <p:custDataLst>
              <p:tags r:id="rId3"/>
            </p:custDataLst>
          </p:nvPr>
        </p:nvSpPr>
        <p:spPr>
          <a:xfrm>
            <a:off x="395536" y="954358"/>
            <a:ext cx="8492490" cy="2573020"/>
          </a:xfrm>
          <a:prstGeom prst="rect">
            <a:avLst/>
          </a:prstGeom>
          <a:noFill/>
        </p:spPr>
        <p:txBody>
          <a:bodyPr wrap="square" rtlCol="0">
            <a:normAutofit/>
          </a:bodyPr>
          <a:lstStyle/>
          <a:p>
            <a:pPr marL="285750" indent="-285750">
              <a:lnSpc>
                <a:spcPct val="110000"/>
              </a:lnSpc>
              <a:buFont typeface="Arial" panose="020B0604020202020204" pitchFamily="34" charset="0"/>
              <a:buChar char="•"/>
            </a:pPr>
            <a:r>
              <a:rPr lang="en-US" altLang="en-GB" dirty="0">
                <a:solidFill>
                  <a:schemeClr val="tx1"/>
                </a:solidFill>
                <a:latin typeface="Times New Roman" panose="02020603050405020304" pitchFamily="18" charset="0"/>
                <a:cs typeface="Times New Roman" panose="02020603050405020304" pitchFamily="18" charset="0"/>
              </a:rPr>
              <a:t>Tableau uncovers sales trends over time, helping forecast future revenue and seasonality with confidence.</a:t>
            </a:r>
            <a:br>
              <a:rPr lang="en-US" altLang="en-GB" dirty="0">
                <a:solidFill>
                  <a:schemeClr val="tx1"/>
                </a:solidFill>
                <a:latin typeface="Times New Roman" panose="02020603050405020304" pitchFamily="18" charset="0"/>
                <a:cs typeface="Times New Roman" panose="02020603050405020304" pitchFamily="18" charset="0"/>
              </a:rPr>
            </a:br>
            <a:endParaRPr lang="en-US" altLang="en-GB" dirty="0">
              <a:solidFill>
                <a:schemeClr val="tx1"/>
              </a:solidFill>
              <a:latin typeface="Times New Roman" panose="02020603050405020304" pitchFamily="18" charset="0"/>
              <a:cs typeface="Times New Roman" panose="02020603050405020304" pitchFamily="18" charset="0"/>
            </a:endParaRPr>
          </a:p>
          <a:p>
            <a:pPr marL="285750" indent="-285750">
              <a:lnSpc>
                <a:spcPct val="110000"/>
              </a:lnSpc>
              <a:buFont typeface="Arial" panose="020B0604020202020204" pitchFamily="34" charset="0"/>
              <a:buChar char="•"/>
            </a:pPr>
            <a:r>
              <a:rPr lang="en-US" altLang="en-GB" dirty="0">
                <a:solidFill>
                  <a:schemeClr val="tx1"/>
                </a:solidFill>
                <a:latin typeface="Times New Roman" panose="02020603050405020304" pitchFamily="18" charset="0"/>
                <a:cs typeface="Times New Roman" panose="02020603050405020304" pitchFamily="18" charset="0"/>
              </a:rPr>
              <a:t>The dashboard reveals conversion patterns, helping identify why some leads succeed and others don’t.</a:t>
            </a:r>
            <a:br>
              <a:rPr lang="en-US" altLang="en-GB" dirty="0">
                <a:solidFill>
                  <a:schemeClr val="tx1"/>
                </a:solidFill>
                <a:latin typeface="Times New Roman" panose="02020603050405020304" pitchFamily="18" charset="0"/>
                <a:cs typeface="Times New Roman" panose="02020603050405020304" pitchFamily="18" charset="0"/>
              </a:rPr>
            </a:br>
            <a:endParaRPr lang="en-US" altLang="en-GB" dirty="0">
              <a:solidFill>
                <a:schemeClr val="tx1"/>
              </a:solidFill>
              <a:latin typeface="Times New Roman" panose="02020603050405020304" pitchFamily="18" charset="0"/>
              <a:cs typeface="Times New Roman" panose="02020603050405020304" pitchFamily="18" charset="0"/>
            </a:endParaRPr>
          </a:p>
          <a:p>
            <a:pPr marL="285750" indent="-285750">
              <a:lnSpc>
                <a:spcPct val="110000"/>
              </a:lnSpc>
              <a:buFont typeface="Arial" panose="020B0604020202020204" pitchFamily="34" charset="0"/>
              <a:buChar char="•"/>
            </a:pPr>
            <a:r>
              <a:rPr lang="en-US" altLang="en-GB" dirty="0">
                <a:solidFill>
                  <a:schemeClr val="tx1"/>
                </a:solidFill>
                <a:latin typeface="Times New Roman" panose="02020603050405020304" pitchFamily="18" charset="0"/>
                <a:cs typeface="Times New Roman" panose="02020603050405020304" pitchFamily="18" charset="0"/>
              </a:rPr>
              <a:t>Business users can make faster decisions by visually comparing planned vs. actual performance in one place.</a:t>
            </a:r>
          </a:p>
        </p:txBody>
      </p:sp>
      <p:sp>
        <p:nvSpPr>
          <p:cNvPr id="13" name="Title 11"/>
          <p:cNvSpPr>
            <a:spLocks noGrp="1"/>
          </p:cNvSpPr>
          <p:nvPr>
            <p:custDataLst>
              <p:tags r:id="rId4"/>
            </p:custDataLst>
          </p:nvPr>
        </p:nvSpPr>
        <p:spPr>
          <a:xfrm>
            <a:off x="0" y="0"/>
            <a:ext cx="9144000" cy="692696"/>
          </a:xfrm>
          <a:prstGeom prst="rect">
            <a:avLst/>
          </a:prstGeom>
          <a:noFill/>
          <a:ln w="9525">
            <a:noFill/>
          </a:ln>
        </p:spPr>
        <p:txBody>
          <a:bodyPr vert="horz" wrap="square" lIns="91440" tIns="45720" rIns="91440" bIns="45720" rtlCol="0" anchor="ctr" anchorCtr="0">
            <a:normAutofit/>
          </a:bodyPr>
          <a:lstStyle>
            <a:lvl1pPr marL="0" marR="0" algn="ctr" defTabSz="685800" rtl="0" eaLnBrk="1" fontAlgn="base" latinLnBrk="0" hangingPunct="1">
              <a:lnSpc>
                <a:spcPct val="100000"/>
              </a:lnSpc>
              <a:spcBef>
                <a:spcPct val="0"/>
              </a:spcBef>
              <a:buClrTx/>
              <a:buSzTx/>
              <a:buFontTx/>
              <a:buNone/>
              <a:defRPr kumimoji="0" lang="en-GB" altLang="x-none" sz="2800" b="0" i="0" u="none" strike="noStrike" kern="1200" cap="none" spc="0" normalizeH="0" baseline="0" noProof="1" dirty="0">
                <a:solidFill>
                  <a:srgbClr val="000000"/>
                </a:solidFill>
                <a:latin typeface="+mj-lt"/>
                <a:ea typeface="+mj-ea"/>
                <a:cs typeface="+mj-cs"/>
              </a:defRPr>
            </a:lvl1pPr>
          </a:lstStyle>
          <a:p>
            <a:r>
              <a:rPr altLang="en-US" sz="3200" b="1" dirty="0">
                <a:solidFill>
                  <a:schemeClr val="tx1"/>
                </a:solidFill>
                <a:latin typeface="Times New Roman" panose="02020603050405020304" pitchFamily="18" charset="0"/>
                <a:cs typeface="Times New Roman" panose="02020603050405020304" pitchFamily="18" charset="0"/>
              </a:rPr>
              <a:t>Smarter Sales Through Tableau </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A6ED47-4C60-40E5-F863-291789B1D54C}"/>
              </a:ext>
            </a:extLst>
          </p:cNvPr>
          <p:cNvSpPr txBox="1"/>
          <p:nvPr/>
        </p:nvSpPr>
        <p:spPr>
          <a:xfrm>
            <a:off x="0" y="188640"/>
            <a:ext cx="9144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SQL Query Image</a:t>
            </a:r>
            <a:r>
              <a:rPr lang="en-US"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24157E3-6194-96B5-FD18-4C56974BD3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0792"/>
            <a:ext cx="9144000" cy="5552557"/>
          </a:xfrm>
          <a:prstGeom prst="rect">
            <a:avLst/>
          </a:prstGeom>
        </p:spPr>
      </p:pic>
      <p:sp>
        <p:nvSpPr>
          <p:cNvPr id="5" name="TextBox 4">
            <a:extLst>
              <a:ext uri="{FF2B5EF4-FFF2-40B4-BE49-F238E27FC236}">
                <a16:creationId xmlns:a16="http://schemas.microsoft.com/office/drawing/2014/main" id="{13E06B9E-4DAA-CC45-DD2B-EC9D99BF5D4F}"/>
              </a:ext>
            </a:extLst>
          </p:cNvPr>
          <p:cNvSpPr txBox="1"/>
          <p:nvPr/>
        </p:nvSpPr>
        <p:spPr>
          <a:xfrm>
            <a:off x="467544" y="692696"/>
            <a:ext cx="2592288" cy="461665"/>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 </a:t>
            </a:r>
            <a:r>
              <a:rPr lang="en-US" sz="2400" b="1" dirty="0">
                <a:latin typeface="Times New Roman" panose="02020603050405020304" pitchFamily="18" charset="0"/>
                <a:cs typeface="Times New Roman" panose="02020603050405020304" pitchFamily="18" charset="0"/>
              </a:rPr>
              <a:t>Schema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9991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C1CB74-0074-E951-C535-E18B8EFF55B7}"/>
              </a:ext>
            </a:extLst>
          </p:cNvPr>
          <p:cNvSpPr txBox="1"/>
          <p:nvPr/>
        </p:nvSpPr>
        <p:spPr>
          <a:xfrm>
            <a:off x="0" y="548680"/>
            <a:ext cx="9144000" cy="584775"/>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Queries  used for Data Transformation</a:t>
            </a:r>
          </a:p>
        </p:txBody>
      </p:sp>
      <p:sp>
        <p:nvSpPr>
          <p:cNvPr id="6" name="TextBox 5">
            <a:extLst>
              <a:ext uri="{FF2B5EF4-FFF2-40B4-BE49-F238E27FC236}">
                <a16:creationId xmlns:a16="http://schemas.microsoft.com/office/drawing/2014/main" id="{43237B72-A2D7-CD95-BC7F-EDF7867A1AFF}"/>
              </a:ext>
            </a:extLst>
          </p:cNvPr>
          <p:cNvSpPr txBox="1"/>
          <p:nvPr/>
        </p:nvSpPr>
        <p:spPr>
          <a:xfrm>
            <a:off x="715285" y="1844824"/>
            <a:ext cx="8033179" cy="234532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Filter Converted Leads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Create a Dimensional Table for Leads (Dim Lead)</a:t>
            </a:r>
            <a:endParaRPr lang="en-IN" sz="2000" b="1"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Create a Fact Table for Lead Activity (Fact Lead Status)</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Group Leads by Industry</a:t>
            </a: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Track Lead Conversion Time</a:t>
            </a:r>
          </a:p>
        </p:txBody>
      </p:sp>
    </p:spTree>
    <p:extLst>
      <p:ext uri="{BB962C8B-B14F-4D97-AF65-F5344CB8AC3E}">
        <p14:creationId xmlns:p14="http://schemas.microsoft.com/office/powerpoint/2010/main" val="1991954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CA9EDD-651F-0333-1E55-57BB3C24CFAE}"/>
              </a:ext>
            </a:extLst>
          </p:cNvPr>
          <p:cNvSpPr txBox="1"/>
          <p:nvPr/>
        </p:nvSpPr>
        <p:spPr>
          <a:xfrm>
            <a:off x="34032" y="188640"/>
            <a:ext cx="9144000"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Key Takeaways</a:t>
            </a:r>
            <a:r>
              <a:rPr lang="en-US"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E7C4331-9711-B50C-A2F7-3E880308CF65}"/>
              </a:ext>
            </a:extLst>
          </p:cNvPr>
          <p:cNvSpPr txBox="1"/>
          <p:nvPr/>
        </p:nvSpPr>
        <p:spPr>
          <a:xfrm>
            <a:off x="213544" y="653798"/>
            <a:ext cx="8784976" cy="6186309"/>
          </a:xfrm>
          <a:prstGeom prst="rect">
            <a:avLst/>
          </a:prstGeom>
          <a:noFill/>
        </p:spPr>
        <p:txBody>
          <a:bodyPr wrap="square" rtlCol="0">
            <a:spAutoFit/>
          </a:bodyPr>
          <a:lstStyle/>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Business Insights</a:t>
            </a: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Lead Source Effectiveness: Leads originating from web forms and referral campaigns show the highest conversion rates—suggesting strong ROI from digital channels.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Sales Pipeline Visibility: Opportunity stages are clearly defined, with most deals stalling at the "Proposal/Price Quote" stage—highlighting a need for stronger deal-closing tactics.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Challenges</a:t>
            </a: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Low CRM Adoption: Some reps still log activities outside Salesforce, leading to visibility gaps and incomplete reporting.</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Poor Data Quality: Duplicate records, missing fields (e.g., industry, revenue), and outdated contact info are prevalent in many leads and accounts.</a:t>
            </a: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Future Recommendations</a:t>
            </a:r>
          </a:p>
          <a:p>
            <a:endParaRPr lang="en-IN"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Mandatory Fields &amp; Validation Rules: Enforce critical field completion during data entry to improve lead and account quality.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Automated Lead Assignment Rules: Use territory management and assignment rules to instantly route leads to the right reps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Adoption Push via Training &amp; Dashboards: Provide targeted training, mobile access, and custom dashboards to improve usage among sales teams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364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1000">
              <a:schemeClr val="accent1">
                <a:lumMod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2A23F4-5E68-1E65-A6C5-8D6193C05708}"/>
              </a:ext>
            </a:extLst>
          </p:cNvPr>
          <p:cNvSpPr txBox="1"/>
          <p:nvPr/>
        </p:nvSpPr>
        <p:spPr>
          <a:xfrm>
            <a:off x="0" y="2708920"/>
            <a:ext cx="9144000" cy="923330"/>
          </a:xfrm>
          <a:prstGeom prst="rect">
            <a:avLst/>
          </a:prstGeom>
          <a:noFill/>
        </p:spPr>
        <p:txBody>
          <a:bodyPr wrap="square" rtlCol="0">
            <a:spAutoFit/>
          </a:bodyPr>
          <a:lstStyle/>
          <a:p>
            <a:pPr algn="ctr"/>
            <a:r>
              <a:rPr lang="en-IN" sz="54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24177330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PECIAL_SOURCE" val="bdnull"/>
  <p:tag name="KSO_WM_TEMPLATE_THUMBS_INDEX" val="1、9"/>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05"/>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11*i*7"/>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11*i*8"/>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11*i*9"/>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11*i*10"/>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9"/>
  <p:tag name="KSO_WM_UNIT_ID" val="_4*i*9"/>
  <p:tag name="KSO_WM_UNIT_LAYERLEVEL" val="1"/>
  <p:tag name="KSO_WM_TAG_VERSION" val="3.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0"/>
  <p:tag name="KSO_WM_UNIT_ID" val="_4*i*10"/>
  <p:tag name="KSO_WM_UNIT_LAYERLEVEL" val="1"/>
  <p:tag name="KSO_WM_TAG_VERSION" val="3.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SPECIAL_SOURCE" val="bdnull"/>
  <p:tag name="KSO_WM_SLIDE_CONTENT_AREA" val="{&quot;left&quot;:&quot;195.5&quot;,&quot;top&quot;:&quot;83.9&quot;,&quot;width&quot;:&quot;570.55&quot;,&quot;height&quot;:&quot;279.45&quot;}"/>
  <p:tag name="KSO_WM_TEMPLATE_THUMBS_INDEX" val="1、9"/>
  <p:tag name="KSO_WM_SLIDE_ID" val="custom20233405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3405"/>
  <p:tag name="KSO_WM_SLIDE_LAYOUT" val="a_b_f"/>
  <p:tag name="KSO_WM_SLIDE_LAYOUT_CNT" val="1_1_1"/>
  <p:tag name="KSO_WM_SLIDE_THEME_ID" val="3321080"/>
  <p:tag name="KSO_WM_SLIDE_THEME_NAME" val="Z_20233405_Purple Technology"/>
</p:tagLst>
</file>

<file path=ppt/tags/tag2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Name"/>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custom20233405_1*f*1"/>
  <p:tag name="KSO_WM_TEMPLATE_CATEGORY" val="custom"/>
  <p:tag name="KSO_WM_TEMPLATE_INDEX" val="20233405"/>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The title goes here"/>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3405_1*a*1"/>
  <p:tag name="KSO_WM_TEMPLATE_CATEGORY" val="custom"/>
  <p:tag name="KSO_WM_TEMPLATE_INDEX" val="20233405"/>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INDEX" val="2"/>
  <p:tag name="KSO_WM_UNIT_TYPE" val="d"/>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INDEX" val="3"/>
  <p:tag name="KSO_WM_UNIT_TYPE" val="d"/>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INDEX" val="4"/>
  <p:tag name="KSO_WM_UNIT_TEXT_SUBTYPE" val="a"/>
  <p:tag name="KSO_WM_UNIT_SUBTYPE" val="a"/>
  <p:tag name="KSO_WM_UNIT_TYPE" val="f"/>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INDEX" val="2"/>
  <p:tag name="KSO_WM_UNIT_TYPE" val="d"/>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INDEX" val="3"/>
  <p:tag name="KSO_WM_UNIT_TEXT_SUBTYPE" val="a"/>
  <p:tag name="KSO_WM_UNIT_SUBTYPE" val="a"/>
  <p:tag name="KSO_WM_UNIT_TYPE" val="f"/>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INDEX" val="2"/>
  <p:tag name="KSO_WM_UNIT_TYPE" val="d"/>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INDEX" val="3"/>
  <p:tag name="KSO_WM_UNIT_TYPE" val="d"/>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INDEX" val="4"/>
  <p:tag name="KSO_WM_UNIT_TEXT_SUBTYPE" val="a"/>
  <p:tag name="KSO_WM_UNIT_SUBTYPE" val="a"/>
  <p:tag name="KSO_WM_UNIT_TYPE" val="f"/>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SLIDE_TYPE" val="text"/>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INDEX" val="2"/>
  <p:tag name="KSO_WM_UNIT_TYPE" val="d"/>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INDEX" val="3"/>
  <p:tag name="KSO_WM_UNIT_TEXT_SUBTYPE" val="a"/>
  <p:tag name="KSO_WM_UNIT_SUBTYPE" val="a"/>
  <p:tag name="KSO_WM_UNIT_TYPE" val="f"/>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INDEX" val="1"/>
  <p:tag name="KSO_WM_UNIT_TYPE" val="a"/>
  <p:tag name="KSO_WM_BEAUTIFY_FLAG" val="#wm#"/>
</p:tagLst>
</file>

<file path=ppt/theme/theme1.xml><?xml version="1.0" encoding="utf-8"?>
<a:theme xmlns:a="http://schemas.openxmlformats.org/drawingml/2006/main" name="Default Design">
  <a:themeElements>
    <a:clrScheme name="Default Design 12">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BFD7F6"/>
      </a:accent5>
      <a:accent6>
        <a:srgbClr val="AE4845"/>
      </a:accent6>
      <a:hlink>
        <a:srgbClr val="0066CC"/>
      </a:hlink>
      <a:folHlink>
        <a:srgbClr val="80008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5">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6">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7">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8">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9">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0">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1">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2">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BFD7F6"/>
        </a:accent5>
        <a:accent6>
          <a:srgbClr val="AE4845"/>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usiness Cooperate">
  <a:themeElements>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siness Cooperate">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usiness Cooper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usiness Cooper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usiness Cooper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usiness Cooper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usiness Cooper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usiness Cooper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usiness Cooper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usiness Cooper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usiness Cooper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usiness Cooper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usiness Cooper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usiness Cooper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TotalTime>
  <Words>789</Words>
  <Application>Microsoft Office PowerPoint</Application>
  <PresentationFormat>On-screen Show (4:3)</PresentationFormat>
  <Paragraphs>77</Paragraphs>
  <Slides>13</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SimSun</vt:lpstr>
      <vt:lpstr>Arial</vt:lpstr>
      <vt:lpstr>Calibri</vt:lpstr>
      <vt:lpstr>Times New Roman</vt:lpstr>
      <vt:lpstr>Default Design</vt:lpstr>
      <vt:lpstr>Business Cooperate</vt:lpstr>
      <vt:lpstr>GROUP-6  CRM SALESFORCE PROJECT </vt:lpstr>
      <vt:lpstr>Project summary</vt:lpstr>
      <vt:lpstr>KPI LIST</vt:lpstr>
      <vt:lpstr>Excel Dashboard </vt:lpstr>
      <vt:lpstr>Trend analysis of Excel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Srikanth Budarpu</cp:lastModifiedBy>
  <cp:revision>11</cp:revision>
  <dcterms:created xsi:type="dcterms:W3CDTF">2025-04-20T10:43:02Z</dcterms:created>
  <dcterms:modified xsi:type="dcterms:W3CDTF">2025-04-25T19:18:14Z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2057-12.2.0.20795</vt:lpwstr>
  </property>
  <property fmtid="{D5CDD505-2E9C-101B-9397-08002B2CF9AE}" pid="3" name="ICV">
    <vt:lpwstr>08202F3995DE45A381FBE8CA7F763300_12</vt:lpwstr>
  </property>
</Properties>
</file>